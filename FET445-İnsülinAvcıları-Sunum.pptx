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
  </p:notesMasterIdLst>
  <p:sldIdLst>
    <p:sldId id="256" r:id="rId2"/>
    <p:sldId id="257" r:id="rId3"/>
    <p:sldId id="258" r:id="rId4"/>
    <p:sldId id="260" r:id="rId5"/>
    <p:sldId id="261" r:id="rId6"/>
    <p:sldId id="259" r:id="rId7"/>
    <p:sldId id="262" r:id="rId8"/>
    <p:sldId id="263" r:id="rId9"/>
  </p:sldIdLst>
  <p:sldSz cx="12192000" cy="6858000"/>
  <p:notesSz cx="6858000" cy="9144000"/>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1" d="100"/>
          <a:sy n="81" d="100"/>
        </p:scale>
        <p:origin x="725"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6/11/relationships/changesInfo" Target="changesInfos/changesInfo1.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slem Berra ÖZEL" userId="14309ebe39b629fa" providerId="LiveId" clId="{F547C110-32F0-4419-8626-CDABD07D1C7F}"/>
    <pc:docChg chg="modSld">
      <pc:chgData name="Eslem Berra ÖZEL" userId="14309ebe39b629fa" providerId="LiveId" clId="{F547C110-32F0-4419-8626-CDABD07D1C7F}" dt="2025-12-22T16:52:34.868" v="0"/>
      <pc:docMkLst>
        <pc:docMk/>
      </pc:docMkLst>
      <pc:sldChg chg="modSp">
        <pc:chgData name="Eslem Berra ÖZEL" userId="14309ebe39b629fa" providerId="LiveId" clId="{F547C110-32F0-4419-8626-CDABD07D1C7F}" dt="2025-12-22T16:52:34.868" v="0"/>
        <pc:sldMkLst>
          <pc:docMk/>
          <pc:sldMk cId="2361930756" sldId="256"/>
        </pc:sldMkLst>
        <pc:spChg chg="mod">
          <ac:chgData name="Eslem Berra ÖZEL" userId="14309ebe39b629fa" providerId="LiveId" clId="{F547C110-32F0-4419-8626-CDABD07D1C7F}" dt="2025-12-22T16:52:34.868" v="0"/>
          <ac:spMkLst>
            <pc:docMk/>
            <pc:sldMk cId="2361930756" sldId="256"/>
            <ac:spMk id="13" creationId="{0EC341AF-5A2E-CD88-F62E-610740F2082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Üst Bilgi Yer Tutucusu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tr-TR"/>
          </a:p>
        </p:txBody>
      </p:sp>
      <p:sp>
        <p:nvSpPr>
          <p:cNvPr id="3" name="Veri Yer Tutucusu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FC3ACA4-3127-4F30-BAC4-249FD93591EE}" type="datetimeFigureOut">
              <a:rPr lang="tr-TR" smtClean="0"/>
              <a:t>22.12.2025</a:t>
            </a:fld>
            <a:endParaRPr lang="tr-TR"/>
          </a:p>
        </p:txBody>
      </p:sp>
      <p:sp>
        <p:nvSpPr>
          <p:cNvPr id="4" name="Slayt Resmi Yer Tutucusu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tr-TR"/>
          </a:p>
        </p:txBody>
      </p:sp>
      <p:sp>
        <p:nvSpPr>
          <p:cNvPr id="5" name="Not Yer Tutucusu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6" name="Alt Bilgi Yer Tutucusu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tr-TR"/>
          </a:p>
        </p:txBody>
      </p:sp>
      <p:sp>
        <p:nvSpPr>
          <p:cNvPr id="7" name="Slayt Numarası Yer Tutucusu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F94118D-0C0F-431D-B471-9DC58B0756A4}" type="slidenum">
              <a:rPr lang="tr-TR" smtClean="0"/>
              <a:t>‹#›</a:t>
            </a:fld>
            <a:endParaRPr lang="tr-TR"/>
          </a:p>
        </p:txBody>
      </p:sp>
    </p:spTree>
    <p:extLst>
      <p:ext uri="{BB962C8B-B14F-4D97-AF65-F5344CB8AC3E}">
        <p14:creationId xmlns:p14="http://schemas.microsoft.com/office/powerpoint/2010/main" val="27418445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fld id="{AF94118D-0C0F-431D-B471-9DC58B0756A4}" type="slidenum">
              <a:rPr lang="tr-TR" smtClean="0"/>
              <a:t>3</a:t>
            </a:fld>
            <a:endParaRPr lang="tr-TR"/>
          </a:p>
        </p:txBody>
      </p:sp>
    </p:spTree>
    <p:extLst>
      <p:ext uri="{BB962C8B-B14F-4D97-AF65-F5344CB8AC3E}">
        <p14:creationId xmlns:p14="http://schemas.microsoft.com/office/powerpoint/2010/main" val="17572489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fld id="{AF94118D-0C0F-431D-B471-9DC58B0756A4}" type="slidenum">
              <a:rPr lang="tr-TR" smtClean="0"/>
              <a:t>4</a:t>
            </a:fld>
            <a:endParaRPr lang="tr-TR"/>
          </a:p>
        </p:txBody>
      </p:sp>
    </p:spTree>
    <p:extLst>
      <p:ext uri="{BB962C8B-B14F-4D97-AF65-F5344CB8AC3E}">
        <p14:creationId xmlns:p14="http://schemas.microsoft.com/office/powerpoint/2010/main" val="317219377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fld id="{AF94118D-0C0F-431D-B471-9DC58B0756A4}" type="slidenum">
              <a:rPr lang="tr-TR" smtClean="0"/>
              <a:t>6</a:t>
            </a:fld>
            <a:endParaRPr lang="tr-TR"/>
          </a:p>
        </p:txBody>
      </p:sp>
    </p:spTree>
    <p:extLst>
      <p:ext uri="{BB962C8B-B14F-4D97-AF65-F5344CB8AC3E}">
        <p14:creationId xmlns:p14="http://schemas.microsoft.com/office/powerpoint/2010/main" val="1785229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fld id="{AF94118D-0C0F-431D-B471-9DC58B0756A4}" type="slidenum">
              <a:rPr lang="tr-TR" smtClean="0"/>
              <a:t>8</a:t>
            </a:fld>
            <a:endParaRPr lang="tr-TR"/>
          </a:p>
        </p:txBody>
      </p:sp>
    </p:spTree>
    <p:extLst>
      <p:ext uri="{BB962C8B-B14F-4D97-AF65-F5344CB8AC3E}">
        <p14:creationId xmlns:p14="http://schemas.microsoft.com/office/powerpoint/2010/main" val="17356435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aşlık Slaydı">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A73B80C4-5C8F-D8D8-F4F7-56253388418F}"/>
              </a:ext>
            </a:extLst>
          </p:cNvPr>
          <p:cNvSpPr>
            <a:spLocks noGrp="1"/>
          </p:cNvSpPr>
          <p:nvPr>
            <p:ph type="ctrTitle"/>
          </p:nvPr>
        </p:nvSpPr>
        <p:spPr>
          <a:xfrm>
            <a:off x="1524000" y="1122363"/>
            <a:ext cx="9144000" cy="2387600"/>
          </a:xfrm>
        </p:spPr>
        <p:txBody>
          <a:bodyPr anchor="b"/>
          <a:lstStyle>
            <a:lvl1pPr algn="ctr">
              <a:defRPr sz="6000"/>
            </a:lvl1pPr>
          </a:lstStyle>
          <a:p>
            <a:r>
              <a:rPr lang="tr-TR"/>
              <a:t>Asıl başlık stilini düzenlemek için tıklayın</a:t>
            </a:r>
          </a:p>
        </p:txBody>
      </p:sp>
      <p:sp>
        <p:nvSpPr>
          <p:cNvPr id="3" name="Alt Başlık 2">
            <a:extLst>
              <a:ext uri="{FF2B5EF4-FFF2-40B4-BE49-F238E27FC236}">
                <a16:creationId xmlns:a16="http://schemas.microsoft.com/office/drawing/2014/main" id="{9DCC00C1-7B5B-23AA-2985-EF5E36339C7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tr-TR"/>
              <a:t>Asıl alt başlık stilini düzenlemek için tıklayın</a:t>
            </a:r>
          </a:p>
        </p:txBody>
      </p:sp>
      <p:sp>
        <p:nvSpPr>
          <p:cNvPr id="4" name="Veri Yer Tutucusu 3">
            <a:extLst>
              <a:ext uri="{FF2B5EF4-FFF2-40B4-BE49-F238E27FC236}">
                <a16:creationId xmlns:a16="http://schemas.microsoft.com/office/drawing/2014/main" id="{0AB85890-C914-D9C2-E926-B6EA039A3491}"/>
              </a:ext>
            </a:extLst>
          </p:cNvPr>
          <p:cNvSpPr>
            <a:spLocks noGrp="1"/>
          </p:cNvSpPr>
          <p:nvPr>
            <p:ph type="dt" sz="half" idx="10"/>
          </p:nvPr>
        </p:nvSpPr>
        <p:spPr/>
        <p:txBody>
          <a:bodyPr/>
          <a:lstStyle/>
          <a:p>
            <a:fld id="{71ED358D-C836-4555-8A8B-88A4C4FCA0D4}" type="datetimeFigureOut">
              <a:rPr lang="tr-TR" smtClean="0"/>
              <a:t>22.12.2025</a:t>
            </a:fld>
            <a:endParaRPr lang="tr-TR"/>
          </a:p>
        </p:txBody>
      </p:sp>
      <p:sp>
        <p:nvSpPr>
          <p:cNvPr id="5" name="Alt Bilgi Yer Tutucusu 4">
            <a:extLst>
              <a:ext uri="{FF2B5EF4-FFF2-40B4-BE49-F238E27FC236}">
                <a16:creationId xmlns:a16="http://schemas.microsoft.com/office/drawing/2014/main" id="{AF7E2CE5-D5F1-26DF-3374-A488CC693340}"/>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691E61D1-AAA9-6D1E-19B8-3C1B0786E3EE}"/>
              </a:ext>
            </a:extLst>
          </p:cNvPr>
          <p:cNvSpPr>
            <a:spLocks noGrp="1"/>
          </p:cNvSpPr>
          <p:nvPr>
            <p:ph type="sldNum" sz="quarter" idx="12"/>
          </p:nvPr>
        </p:nvSpPr>
        <p:spPr/>
        <p:txBody>
          <a:bodyPr/>
          <a:lstStyle/>
          <a:p>
            <a:fld id="{75BC1DAE-85C0-4C1F-8D27-D864D0DE87E5}" type="slidenum">
              <a:rPr lang="tr-TR" smtClean="0"/>
              <a:t>‹#›</a:t>
            </a:fld>
            <a:endParaRPr lang="tr-TR"/>
          </a:p>
        </p:txBody>
      </p:sp>
    </p:spTree>
    <p:extLst>
      <p:ext uri="{BB962C8B-B14F-4D97-AF65-F5344CB8AC3E}">
        <p14:creationId xmlns:p14="http://schemas.microsoft.com/office/powerpoint/2010/main" val="37950609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BAF565B6-3192-C2B2-7C28-303923663505}"/>
              </a:ext>
            </a:extLst>
          </p:cNvPr>
          <p:cNvSpPr>
            <a:spLocks noGrp="1"/>
          </p:cNvSpPr>
          <p:nvPr>
            <p:ph type="title"/>
          </p:nvPr>
        </p:nvSpPr>
        <p:spPr/>
        <p:txBody>
          <a:bodyPr/>
          <a:lstStyle/>
          <a:p>
            <a:r>
              <a:rPr lang="tr-TR"/>
              <a:t>Asıl başlık stilini düzenlemek için tıklayın</a:t>
            </a:r>
          </a:p>
        </p:txBody>
      </p:sp>
      <p:sp>
        <p:nvSpPr>
          <p:cNvPr id="3" name="İçerik Yer Tutucusu 2">
            <a:extLst>
              <a:ext uri="{FF2B5EF4-FFF2-40B4-BE49-F238E27FC236}">
                <a16:creationId xmlns:a16="http://schemas.microsoft.com/office/drawing/2014/main" id="{3F66BA3C-AC4D-5A0B-6F2A-2A5FC421C70C}"/>
              </a:ext>
            </a:extLst>
          </p:cNvPr>
          <p:cNvSpPr>
            <a:spLocks noGrp="1"/>
          </p:cNvSpPr>
          <p:nvPr>
            <p:ph idx="1"/>
          </p:nvPr>
        </p:nvSpPr>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9965C573-DDF7-1560-3390-B009006B277D}"/>
              </a:ext>
            </a:extLst>
          </p:cNvPr>
          <p:cNvSpPr>
            <a:spLocks noGrp="1"/>
          </p:cNvSpPr>
          <p:nvPr>
            <p:ph type="dt" sz="half" idx="10"/>
          </p:nvPr>
        </p:nvSpPr>
        <p:spPr/>
        <p:txBody>
          <a:bodyPr/>
          <a:lstStyle/>
          <a:p>
            <a:fld id="{71ED358D-C836-4555-8A8B-88A4C4FCA0D4}" type="datetimeFigureOut">
              <a:rPr lang="tr-TR" smtClean="0"/>
              <a:t>22.12.2025</a:t>
            </a:fld>
            <a:endParaRPr lang="tr-TR"/>
          </a:p>
        </p:txBody>
      </p:sp>
      <p:sp>
        <p:nvSpPr>
          <p:cNvPr id="5" name="Alt Bilgi Yer Tutucusu 4">
            <a:extLst>
              <a:ext uri="{FF2B5EF4-FFF2-40B4-BE49-F238E27FC236}">
                <a16:creationId xmlns:a16="http://schemas.microsoft.com/office/drawing/2014/main" id="{DA70A51A-11D1-F1F7-2DB1-703CA1C286C5}"/>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63C4F9D9-96DC-91FD-C54E-1761BA8CDFCB}"/>
              </a:ext>
            </a:extLst>
          </p:cNvPr>
          <p:cNvSpPr>
            <a:spLocks noGrp="1"/>
          </p:cNvSpPr>
          <p:nvPr>
            <p:ph type="sldNum" sz="quarter" idx="12"/>
          </p:nvPr>
        </p:nvSpPr>
        <p:spPr/>
        <p:txBody>
          <a:bodyPr/>
          <a:lstStyle/>
          <a:p>
            <a:fld id="{75BC1DAE-85C0-4C1F-8D27-D864D0DE87E5}" type="slidenum">
              <a:rPr lang="tr-TR" smtClean="0"/>
              <a:t>‹#›</a:t>
            </a:fld>
            <a:endParaRPr lang="tr-TR"/>
          </a:p>
        </p:txBody>
      </p:sp>
    </p:spTree>
    <p:extLst>
      <p:ext uri="{BB962C8B-B14F-4D97-AF65-F5344CB8AC3E}">
        <p14:creationId xmlns:p14="http://schemas.microsoft.com/office/powerpoint/2010/main" val="8089660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 Bilgisi">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769DDC08-7B64-F521-C555-26D80497C396}"/>
              </a:ext>
            </a:extLst>
          </p:cNvPr>
          <p:cNvSpPr>
            <a:spLocks noGrp="1"/>
          </p:cNvSpPr>
          <p:nvPr>
            <p:ph type="title"/>
          </p:nvPr>
        </p:nvSpPr>
        <p:spPr>
          <a:xfrm>
            <a:off x="831850" y="1709738"/>
            <a:ext cx="10515600" cy="2852737"/>
          </a:xfrm>
        </p:spPr>
        <p:txBody>
          <a:bodyPr anchor="b"/>
          <a:lstStyle>
            <a:lvl1pPr>
              <a:defRPr sz="6000"/>
            </a:lvl1pPr>
          </a:lstStyle>
          <a:p>
            <a:r>
              <a:rPr lang="tr-TR"/>
              <a:t>Asıl başlık stilini düzenlemek için tıklayın</a:t>
            </a:r>
          </a:p>
        </p:txBody>
      </p:sp>
      <p:sp>
        <p:nvSpPr>
          <p:cNvPr id="3" name="Metin Yer Tutucusu 2">
            <a:extLst>
              <a:ext uri="{FF2B5EF4-FFF2-40B4-BE49-F238E27FC236}">
                <a16:creationId xmlns:a16="http://schemas.microsoft.com/office/drawing/2014/main" id="{59CCAA99-83DB-E1F8-265C-0E0A208B7EF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tr-TR"/>
              <a:t>Asıl metin stillerini düzenlemek için tıklayın</a:t>
            </a:r>
          </a:p>
        </p:txBody>
      </p:sp>
      <p:sp>
        <p:nvSpPr>
          <p:cNvPr id="4" name="Veri Yer Tutucusu 3">
            <a:extLst>
              <a:ext uri="{FF2B5EF4-FFF2-40B4-BE49-F238E27FC236}">
                <a16:creationId xmlns:a16="http://schemas.microsoft.com/office/drawing/2014/main" id="{32095464-3D57-6E82-5FFA-A6AF15EEAA3F}"/>
              </a:ext>
            </a:extLst>
          </p:cNvPr>
          <p:cNvSpPr>
            <a:spLocks noGrp="1"/>
          </p:cNvSpPr>
          <p:nvPr>
            <p:ph type="dt" sz="half" idx="10"/>
          </p:nvPr>
        </p:nvSpPr>
        <p:spPr/>
        <p:txBody>
          <a:bodyPr/>
          <a:lstStyle/>
          <a:p>
            <a:fld id="{71ED358D-C836-4555-8A8B-88A4C4FCA0D4}" type="datetimeFigureOut">
              <a:rPr lang="tr-TR" smtClean="0"/>
              <a:t>22.12.2025</a:t>
            </a:fld>
            <a:endParaRPr lang="tr-TR"/>
          </a:p>
        </p:txBody>
      </p:sp>
      <p:sp>
        <p:nvSpPr>
          <p:cNvPr id="5" name="Alt Bilgi Yer Tutucusu 4">
            <a:extLst>
              <a:ext uri="{FF2B5EF4-FFF2-40B4-BE49-F238E27FC236}">
                <a16:creationId xmlns:a16="http://schemas.microsoft.com/office/drawing/2014/main" id="{06769533-068B-EB9A-631A-CFA42B6C5334}"/>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69E4843B-1D26-58F1-BD64-730C0CC5FA5C}"/>
              </a:ext>
            </a:extLst>
          </p:cNvPr>
          <p:cNvSpPr>
            <a:spLocks noGrp="1"/>
          </p:cNvSpPr>
          <p:nvPr>
            <p:ph type="sldNum" sz="quarter" idx="12"/>
          </p:nvPr>
        </p:nvSpPr>
        <p:spPr/>
        <p:txBody>
          <a:bodyPr/>
          <a:lstStyle/>
          <a:p>
            <a:fld id="{75BC1DAE-85C0-4C1F-8D27-D864D0DE87E5}" type="slidenum">
              <a:rPr lang="tr-TR" smtClean="0"/>
              <a:t>‹#›</a:t>
            </a:fld>
            <a:endParaRPr lang="tr-TR"/>
          </a:p>
        </p:txBody>
      </p:sp>
    </p:spTree>
    <p:extLst>
      <p:ext uri="{BB962C8B-B14F-4D97-AF65-F5344CB8AC3E}">
        <p14:creationId xmlns:p14="http://schemas.microsoft.com/office/powerpoint/2010/main" val="20582940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279EDD12-D238-4AE8-11DA-BCCB5C59FAD3}"/>
              </a:ext>
            </a:extLst>
          </p:cNvPr>
          <p:cNvSpPr>
            <a:spLocks noGrp="1"/>
          </p:cNvSpPr>
          <p:nvPr>
            <p:ph type="title"/>
          </p:nvPr>
        </p:nvSpPr>
        <p:spPr/>
        <p:txBody>
          <a:bodyPr/>
          <a:lstStyle/>
          <a:p>
            <a:r>
              <a:rPr lang="tr-TR"/>
              <a:t>Asıl başlık stilini düzenlemek için tıklayın</a:t>
            </a:r>
          </a:p>
        </p:txBody>
      </p:sp>
      <p:sp>
        <p:nvSpPr>
          <p:cNvPr id="3" name="İçerik Yer Tutucusu 2">
            <a:extLst>
              <a:ext uri="{FF2B5EF4-FFF2-40B4-BE49-F238E27FC236}">
                <a16:creationId xmlns:a16="http://schemas.microsoft.com/office/drawing/2014/main" id="{32BE7FD8-2BE1-E7DF-DFE1-3C3D613E93DE}"/>
              </a:ext>
            </a:extLst>
          </p:cNvPr>
          <p:cNvSpPr>
            <a:spLocks noGrp="1"/>
          </p:cNvSpPr>
          <p:nvPr>
            <p:ph sz="half" idx="1"/>
          </p:nvPr>
        </p:nvSpPr>
        <p:spPr>
          <a:xfrm>
            <a:off x="838200" y="1825625"/>
            <a:ext cx="5181600" cy="435133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İçerik Yer Tutucusu 3">
            <a:extLst>
              <a:ext uri="{FF2B5EF4-FFF2-40B4-BE49-F238E27FC236}">
                <a16:creationId xmlns:a16="http://schemas.microsoft.com/office/drawing/2014/main" id="{441838AD-5624-E1F9-B2CD-AE5BBB65450E}"/>
              </a:ext>
            </a:extLst>
          </p:cNvPr>
          <p:cNvSpPr>
            <a:spLocks noGrp="1"/>
          </p:cNvSpPr>
          <p:nvPr>
            <p:ph sz="half" idx="2"/>
          </p:nvPr>
        </p:nvSpPr>
        <p:spPr>
          <a:xfrm>
            <a:off x="6172200" y="1825625"/>
            <a:ext cx="5181600" cy="435133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5" name="Veri Yer Tutucusu 4">
            <a:extLst>
              <a:ext uri="{FF2B5EF4-FFF2-40B4-BE49-F238E27FC236}">
                <a16:creationId xmlns:a16="http://schemas.microsoft.com/office/drawing/2014/main" id="{078C04C6-F943-604C-F143-6497EC8DFBA4}"/>
              </a:ext>
            </a:extLst>
          </p:cNvPr>
          <p:cNvSpPr>
            <a:spLocks noGrp="1"/>
          </p:cNvSpPr>
          <p:nvPr>
            <p:ph type="dt" sz="half" idx="10"/>
          </p:nvPr>
        </p:nvSpPr>
        <p:spPr/>
        <p:txBody>
          <a:bodyPr/>
          <a:lstStyle/>
          <a:p>
            <a:fld id="{71ED358D-C836-4555-8A8B-88A4C4FCA0D4}" type="datetimeFigureOut">
              <a:rPr lang="tr-TR" smtClean="0"/>
              <a:t>22.12.2025</a:t>
            </a:fld>
            <a:endParaRPr lang="tr-TR"/>
          </a:p>
        </p:txBody>
      </p:sp>
      <p:sp>
        <p:nvSpPr>
          <p:cNvPr id="6" name="Alt Bilgi Yer Tutucusu 5">
            <a:extLst>
              <a:ext uri="{FF2B5EF4-FFF2-40B4-BE49-F238E27FC236}">
                <a16:creationId xmlns:a16="http://schemas.microsoft.com/office/drawing/2014/main" id="{9BFA721E-4C39-5ED2-81C0-80A1FB2B03CD}"/>
              </a:ext>
            </a:extLst>
          </p:cNvPr>
          <p:cNvSpPr>
            <a:spLocks noGrp="1"/>
          </p:cNvSpPr>
          <p:nvPr>
            <p:ph type="ftr" sz="quarter" idx="11"/>
          </p:nvPr>
        </p:nvSpPr>
        <p:spPr/>
        <p:txBody>
          <a:bodyPr/>
          <a:lstStyle/>
          <a:p>
            <a:endParaRPr lang="tr-TR"/>
          </a:p>
        </p:txBody>
      </p:sp>
      <p:sp>
        <p:nvSpPr>
          <p:cNvPr id="7" name="Slayt Numarası Yer Tutucusu 6">
            <a:extLst>
              <a:ext uri="{FF2B5EF4-FFF2-40B4-BE49-F238E27FC236}">
                <a16:creationId xmlns:a16="http://schemas.microsoft.com/office/drawing/2014/main" id="{7AFFDBE6-5227-8579-9A36-4776B3FA9102}"/>
              </a:ext>
            </a:extLst>
          </p:cNvPr>
          <p:cNvSpPr>
            <a:spLocks noGrp="1"/>
          </p:cNvSpPr>
          <p:nvPr>
            <p:ph type="sldNum" sz="quarter" idx="12"/>
          </p:nvPr>
        </p:nvSpPr>
        <p:spPr/>
        <p:txBody>
          <a:bodyPr/>
          <a:lstStyle/>
          <a:p>
            <a:fld id="{75BC1DAE-85C0-4C1F-8D27-D864D0DE87E5}" type="slidenum">
              <a:rPr lang="tr-TR" smtClean="0"/>
              <a:t>‹#›</a:t>
            </a:fld>
            <a:endParaRPr lang="tr-TR"/>
          </a:p>
        </p:txBody>
      </p:sp>
    </p:spTree>
    <p:extLst>
      <p:ext uri="{BB962C8B-B14F-4D97-AF65-F5344CB8AC3E}">
        <p14:creationId xmlns:p14="http://schemas.microsoft.com/office/powerpoint/2010/main" val="27026789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580182C1-9C01-BCB1-4133-21DDA2629949}"/>
              </a:ext>
            </a:extLst>
          </p:cNvPr>
          <p:cNvSpPr>
            <a:spLocks noGrp="1"/>
          </p:cNvSpPr>
          <p:nvPr>
            <p:ph type="title"/>
          </p:nvPr>
        </p:nvSpPr>
        <p:spPr>
          <a:xfrm>
            <a:off x="839788" y="365125"/>
            <a:ext cx="10515600" cy="1325563"/>
          </a:xfrm>
        </p:spPr>
        <p:txBody>
          <a:bodyPr/>
          <a:lstStyle/>
          <a:p>
            <a:r>
              <a:rPr lang="tr-TR"/>
              <a:t>Asıl başlık stilini düzenlemek için tıklayın</a:t>
            </a:r>
          </a:p>
        </p:txBody>
      </p:sp>
      <p:sp>
        <p:nvSpPr>
          <p:cNvPr id="3" name="Metin Yer Tutucusu 2">
            <a:extLst>
              <a:ext uri="{FF2B5EF4-FFF2-40B4-BE49-F238E27FC236}">
                <a16:creationId xmlns:a16="http://schemas.microsoft.com/office/drawing/2014/main" id="{C69F0A70-FE6F-F7CE-5DAA-CA8D22D6BB9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4" name="İçerik Yer Tutucusu 3">
            <a:extLst>
              <a:ext uri="{FF2B5EF4-FFF2-40B4-BE49-F238E27FC236}">
                <a16:creationId xmlns:a16="http://schemas.microsoft.com/office/drawing/2014/main" id="{86B256A9-9FAB-4B24-DBF4-A0B1C04701F2}"/>
              </a:ext>
            </a:extLst>
          </p:cNvPr>
          <p:cNvSpPr>
            <a:spLocks noGrp="1"/>
          </p:cNvSpPr>
          <p:nvPr>
            <p:ph sz="half" idx="2"/>
          </p:nvPr>
        </p:nvSpPr>
        <p:spPr>
          <a:xfrm>
            <a:off x="839788" y="2505075"/>
            <a:ext cx="5157787" cy="368458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5" name="Metin Yer Tutucusu 4">
            <a:extLst>
              <a:ext uri="{FF2B5EF4-FFF2-40B4-BE49-F238E27FC236}">
                <a16:creationId xmlns:a16="http://schemas.microsoft.com/office/drawing/2014/main" id="{AA73FDDE-6FF9-1809-8368-4B1E8E5660A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6" name="İçerik Yer Tutucusu 5">
            <a:extLst>
              <a:ext uri="{FF2B5EF4-FFF2-40B4-BE49-F238E27FC236}">
                <a16:creationId xmlns:a16="http://schemas.microsoft.com/office/drawing/2014/main" id="{9041A9DC-8988-4047-2A2B-50F2CD395929}"/>
              </a:ext>
            </a:extLst>
          </p:cNvPr>
          <p:cNvSpPr>
            <a:spLocks noGrp="1"/>
          </p:cNvSpPr>
          <p:nvPr>
            <p:ph sz="quarter" idx="4"/>
          </p:nvPr>
        </p:nvSpPr>
        <p:spPr>
          <a:xfrm>
            <a:off x="6172200" y="2505075"/>
            <a:ext cx="5183188" cy="368458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7" name="Veri Yer Tutucusu 6">
            <a:extLst>
              <a:ext uri="{FF2B5EF4-FFF2-40B4-BE49-F238E27FC236}">
                <a16:creationId xmlns:a16="http://schemas.microsoft.com/office/drawing/2014/main" id="{54AFEC15-262E-B024-548C-5B2D86DE26B9}"/>
              </a:ext>
            </a:extLst>
          </p:cNvPr>
          <p:cNvSpPr>
            <a:spLocks noGrp="1"/>
          </p:cNvSpPr>
          <p:nvPr>
            <p:ph type="dt" sz="half" idx="10"/>
          </p:nvPr>
        </p:nvSpPr>
        <p:spPr/>
        <p:txBody>
          <a:bodyPr/>
          <a:lstStyle/>
          <a:p>
            <a:fld id="{71ED358D-C836-4555-8A8B-88A4C4FCA0D4}" type="datetimeFigureOut">
              <a:rPr lang="tr-TR" smtClean="0"/>
              <a:t>22.12.2025</a:t>
            </a:fld>
            <a:endParaRPr lang="tr-TR"/>
          </a:p>
        </p:txBody>
      </p:sp>
      <p:sp>
        <p:nvSpPr>
          <p:cNvPr id="8" name="Alt Bilgi Yer Tutucusu 7">
            <a:extLst>
              <a:ext uri="{FF2B5EF4-FFF2-40B4-BE49-F238E27FC236}">
                <a16:creationId xmlns:a16="http://schemas.microsoft.com/office/drawing/2014/main" id="{B2B87531-5E5D-71E8-8BA6-B54C6B0074FB}"/>
              </a:ext>
            </a:extLst>
          </p:cNvPr>
          <p:cNvSpPr>
            <a:spLocks noGrp="1"/>
          </p:cNvSpPr>
          <p:nvPr>
            <p:ph type="ftr" sz="quarter" idx="11"/>
          </p:nvPr>
        </p:nvSpPr>
        <p:spPr/>
        <p:txBody>
          <a:bodyPr/>
          <a:lstStyle/>
          <a:p>
            <a:endParaRPr lang="tr-TR"/>
          </a:p>
        </p:txBody>
      </p:sp>
      <p:sp>
        <p:nvSpPr>
          <p:cNvPr id="9" name="Slayt Numarası Yer Tutucusu 8">
            <a:extLst>
              <a:ext uri="{FF2B5EF4-FFF2-40B4-BE49-F238E27FC236}">
                <a16:creationId xmlns:a16="http://schemas.microsoft.com/office/drawing/2014/main" id="{BBE4AF2E-8C17-BC1B-87F5-524C59C52251}"/>
              </a:ext>
            </a:extLst>
          </p:cNvPr>
          <p:cNvSpPr>
            <a:spLocks noGrp="1"/>
          </p:cNvSpPr>
          <p:nvPr>
            <p:ph type="sldNum" sz="quarter" idx="12"/>
          </p:nvPr>
        </p:nvSpPr>
        <p:spPr/>
        <p:txBody>
          <a:bodyPr/>
          <a:lstStyle/>
          <a:p>
            <a:fld id="{75BC1DAE-85C0-4C1F-8D27-D864D0DE87E5}" type="slidenum">
              <a:rPr lang="tr-TR" smtClean="0"/>
              <a:t>‹#›</a:t>
            </a:fld>
            <a:endParaRPr lang="tr-TR"/>
          </a:p>
        </p:txBody>
      </p:sp>
    </p:spTree>
    <p:extLst>
      <p:ext uri="{BB962C8B-B14F-4D97-AF65-F5344CB8AC3E}">
        <p14:creationId xmlns:p14="http://schemas.microsoft.com/office/powerpoint/2010/main" val="27893408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D5135C9A-4B17-FEEB-CCEF-EFE9E8A67F68}"/>
              </a:ext>
            </a:extLst>
          </p:cNvPr>
          <p:cNvSpPr>
            <a:spLocks noGrp="1"/>
          </p:cNvSpPr>
          <p:nvPr>
            <p:ph type="title"/>
          </p:nvPr>
        </p:nvSpPr>
        <p:spPr/>
        <p:txBody>
          <a:bodyPr/>
          <a:lstStyle/>
          <a:p>
            <a:r>
              <a:rPr lang="tr-TR"/>
              <a:t>Asıl başlık stilini düzenlemek için tıklayın</a:t>
            </a:r>
          </a:p>
        </p:txBody>
      </p:sp>
      <p:sp>
        <p:nvSpPr>
          <p:cNvPr id="3" name="Veri Yer Tutucusu 2">
            <a:extLst>
              <a:ext uri="{FF2B5EF4-FFF2-40B4-BE49-F238E27FC236}">
                <a16:creationId xmlns:a16="http://schemas.microsoft.com/office/drawing/2014/main" id="{92093001-5B1F-B970-78FB-39036EA88CD5}"/>
              </a:ext>
            </a:extLst>
          </p:cNvPr>
          <p:cNvSpPr>
            <a:spLocks noGrp="1"/>
          </p:cNvSpPr>
          <p:nvPr>
            <p:ph type="dt" sz="half" idx="10"/>
          </p:nvPr>
        </p:nvSpPr>
        <p:spPr/>
        <p:txBody>
          <a:bodyPr/>
          <a:lstStyle/>
          <a:p>
            <a:fld id="{71ED358D-C836-4555-8A8B-88A4C4FCA0D4}" type="datetimeFigureOut">
              <a:rPr lang="tr-TR" smtClean="0"/>
              <a:t>22.12.2025</a:t>
            </a:fld>
            <a:endParaRPr lang="tr-TR"/>
          </a:p>
        </p:txBody>
      </p:sp>
      <p:sp>
        <p:nvSpPr>
          <p:cNvPr id="4" name="Alt Bilgi Yer Tutucusu 3">
            <a:extLst>
              <a:ext uri="{FF2B5EF4-FFF2-40B4-BE49-F238E27FC236}">
                <a16:creationId xmlns:a16="http://schemas.microsoft.com/office/drawing/2014/main" id="{ABD87383-C7EE-BB8C-2361-A8EF8C760952}"/>
              </a:ext>
            </a:extLst>
          </p:cNvPr>
          <p:cNvSpPr>
            <a:spLocks noGrp="1"/>
          </p:cNvSpPr>
          <p:nvPr>
            <p:ph type="ftr" sz="quarter" idx="11"/>
          </p:nvPr>
        </p:nvSpPr>
        <p:spPr/>
        <p:txBody>
          <a:bodyPr/>
          <a:lstStyle/>
          <a:p>
            <a:endParaRPr lang="tr-TR"/>
          </a:p>
        </p:txBody>
      </p:sp>
      <p:sp>
        <p:nvSpPr>
          <p:cNvPr id="5" name="Slayt Numarası Yer Tutucusu 4">
            <a:extLst>
              <a:ext uri="{FF2B5EF4-FFF2-40B4-BE49-F238E27FC236}">
                <a16:creationId xmlns:a16="http://schemas.microsoft.com/office/drawing/2014/main" id="{D47488FF-06DB-0370-0EB4-EB6D469558C1}"/>
              </a:ext>
            </a:extLst>
          </p:cNvPr>
          <p:cNvSpPr>
            <a:spLocks noGrp="1"/>
          </p:cNvSpPr>
          <p:nvPr>
            <p:ph type="sldNum" sz="quarter" idx="12"/>
          </p:nvPr>
        </p:nvSpPr>
        <p:spPr/>
        <p:txBody>
          <a:bodyPr/>
          <a:lstStyle/>
          <a:p>
            <a:fld id="{75BC1DAE-85C0-4C1F-8D27-D864D0DE87E5}" type="slidenum">
              <a:rPr lang="tr-TR" smtClean="0"/>
              <a:t>‹#›</a:t>
            </a:fld>
            <a:endParaRPr lang="tr-TR"/>
          </a:p>
        </p:txBody>
      </p:sp>
    </p:spTree>
    <p:extLst>
      <p:ext uri="{BB962C8B-B14F-4D97-AF65-F5344CB8AC3E}">
        <p14:creationId xmlns:p14="http://schemas.microsoft.com/office/powerpoint/2010/main" val="28595269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Veri Yer Tutucusu 1">
            <a:extLst>
              <a:ext uri="{FF2B5EF4-FFF2-40B4-BE49-F238E27FC236}">
                <a16:creationId xmlns:a16="http://schemas.microsoft.com/office/drawing/2014/main" id="{727B4F52-5F31-DE75-3FC4-2AF98EBC39C4}"/>
              </a:ext>
            </a:extLst>
          </p:cNvPr>
          <p:cNvSpPr>
            <a:spLocks noGrp="1"/>
          </p:cNvSpPr>
          <p:nvPr>
            <p:ph type="dt" sz="half" idx="10"/>
          </p:nvPr>
        </p:nvSpPr>
        <p:spPr/>
        <p:txBody>
          <a:bodyPr/>
          <a:lstStyle/>
          <a:p>
            <a:fld id="{71ED358D-C836-4555-8A8B-88A4C4FCA0D4}" type="datetimeFigureOut">
              <a:rPr lang="tr-TR" smtClean="0"/>
              <a:t>22.12.2025</a:t>
            </a:fld>
            <a:endParaRPr lang="tr-TR"/>
          </a:p>
        </p:txBody>
      </p:sp>
      <p:sp>
        <p:nvSpPr>
          <p:cNvPr id="3" name="Alt Bilgi Yer Tutucusu 2">
            <a:extLst>
              <a:ext uri="{FF2B5EF4-FFF2-40B4-BE49-F238E27FC236}">
                <a16:creationId xmlns:a16="http://schemas.microsoft.com/office/drawing/2014/main" id="{B488613F-0B15-4EFF-F581-19BB30FA8DC3}"/>
              </a:ext>
            </a:extLst>
          </p:cNvPr>
          <p:cNvSpPr>
            <a:spLocks noGrp="1"/>
          </p:cNvSpPr>
          <p:nvPr>
            <p:ph type="ftr" sz="quarter" idx="11"/>
          </p:nvPr>
        </p:nvSpPr>
        <p:spPr/>
        <p:txBody>
          <a:bodyPr/>
          <a:lstStyle/>
          <a:p>
            <a:endParaRPr lang="tr-TR"/>
          </a:p>
        </p:txBody>
      </p:sp>
      <p:sp>
        <p:nvSpPr>
          <p:cNvPr id="4" name="Slayt Numarası Yer Tutucusu 3">
            <a:extLst>
              <a:ext uri="{FF2B5EF4-FFF2-40B4-BE49-F238E27FC236}">
                <a16:creationId xmlns:a16="http://schemas.microsoft.com/office/drawing/2014/main" id="{38A9B4DD-0CA2-1BB4-7828-3BE22F79432F}"/>
              </a:ext>
            </a:extLst>
          </p:cNvPr>
          <p:cNvSpPr>
            <a:spLocks noGrp="1"/>
          </p:cNvSpPr>
          <p:nvPr>
            <p:ph type="sldNum" sz="quarter" idx="12"/>
          </p:nvPr>
        </p:nvSpPr>
        <p:spPr/>
        <p:txBody>
          <a:bodyPr/>
          <a:lstStyle/>
          <a:p>
            <a:fld id="{75BC1DAE-85C0-4C1F-8D27-D864D0DE87E5}" type="slidenum">
              <a:rPr lang="tr-TR" smtClean="0"/>
              <a:t>‹#›</a:t>
            </a:fld>
            <a:endParaRPr lang="tr-TR"/>
          </a:p>
        </p:txBody>
      </p:sp>
    </p:spTree>
    <p:extLst>
      <p:ext uri="{BB962C8B-B14F-4D97-AF65-F5344CB8AC3E}">
        <p14:creationId xmlns:p14="http://schemas.microsoft.com/office/powerpoint/2010/main" val="31444989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14466DFF-BBFA-964F-380D-40372C83AC1E}"/>
              </a:ext>
            </a:extLst>
          </p:cNvPr>
          <p:cNvSpPr>
            <a:spLocks noGrp="1"/>
          </p:cNvSpPr>
          <p:nvPr>
            <p:ph type="title"/>
          </p:nvPr>
        </p:nvSpPr>
        <p:spPr>
          <a:xfrm>
            <a:off x="839788" y="457200"/>
            <a:ext cx="3932237" cy="1600200"/>
          </a:xfrm>
        </p:spPr>
        <p:txBody>
          <a:bodyPr anchor="b"/>
          <a:lstStyle>
            <a:lvl1pPr>
              <a:defRPr sz="3200"/>
            </a:lvl1pPr>
          </a:lstStyle>
          <a:p>
            <a:r>
              <a:rPr lang="tr-TR"/>
              <a:t>Asıl başlık stilini düzenlemek için tıklayın</a:t>
            </a:r>
          </a:p>
        </p:txBody>
      </p:sp>
      <p:sp>
        <p:nvSpPr>
          <p:cNvPr id="3" name="İçerik Yer Tutucusu 2">
            <a:extLst>
              <a:ext uri="{FF2B5EF4-FFF2-40B4-BE49-F238E27FC236}">
                <a16:creationId xmlns:a16="http://schemas.microsoft.com/office/drawing/2014/main" id="{21A53BCC-00AD-A0F9-166F-3F884ED9A77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Metin Yer Tutucusu 3">
            <a:extLst>
              <a:ext uri="{FF2B5EF4-FFF2-40B4-BE49-F238E27FC236}">
                <a16:creationId xmlns:a16="http://schemas.microsoft.com/office/drawing/2014/main" id="{25178557-26E2-00F2-BB2F-4B1474543F7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tıklayın</a:t>
            </a:r>
          </a:p>
        </p:txBody>
      </p:sp>
      <p:sp>
        <p:nvSpPr>
          <p:cNvPr id="5" name="Veri Yer Tutucusu 4">
            <a:extLst>
              <a:ext uri="{FF2B5EF4-FFF2-40B4-BE49-F238E27FC236}">
                <a16:creationId xmlns:a16="http://schemas.microsoft.com/office/drawing/2014/main" id="{C371F86B-A10F-4F6B-6B74-0D2C016739C2}"/>
              </a:ext>
            </a:extLst>
          </p:cNvPr>
          <p:cNvSpPr>
            <a:spLocks noGrp="1"/>
          </p:cNvSpPr>
          <p:nvPr>
            <p:ph type="dt" sz="half" idx="10"/>
          </p:nvPr>
        </p:nvSpPr>
        <p:spPr/>
        <p:txBody>
          <a:bodyPr/>
          <a:lstStyle/>
          <a:p>
            <a:fld id="{71ED358D-C836-4555-8A8B-88A4C4FCA0D4}" type="datetimeFigureOut">
              <a:rPr lang="tr-TR" smtClean="0"/>
              <a:t>22.12.2025</a:t>
            </a:fld>
            <a:endParaRPr lang="tr-TR"/>
          </a:p>
        </p:txBody>
      </p:sp>
      <p:sp>
        <p:nvSpPr>
          <p:cNvPr id="6" name="Alt Bilgi Yer Tutucusu 5">
            <a:extLst>
              <a:ext uri="{FF2B5EF4-FFF2-40B4-BE49-F238E27FC236}">
                <a16:creationId xmlns:a16="http://schemas.microsoft.com/office/drawing/2014/main" id="{65B9B050-AA34-21D7-E2A0-DC80E5766E9B}"/>
              </a:ext>
            </a:extLst>
          </p:cNvPr>
          <p:cNvSpPr>
            <a:spLocks noGrp="1"/>
          </p:cNvSpPr>
          <p:nvPr>
            <p:ph type="ftr" sz="quarter" idx="11"/>
          </p:nvPr>
        </p:nvSpPr>
        <p:spPr/>
        <p:txBody>
          <a:bodyPr/>
          <a:lstStyle/>
          <a:p>
            <a:endParaRPr lang="tr-TR"/>
          </a:p>
        </p:txBody>
      </p:sp>
      <p:sp>
        <p:nvSpPr>
          <p:cNvPr id="7" name="Slayt Numarası Yer Tutucusu 6">
            <a:extLst>
              <a:ext uri="{FF2B5EF4-FFF2-40B4-BE49-F238E27FC236}">
                <a16:creationId xmlns:a16="http://schemas.microsoft.com/office/drawing/2014/main" id="{99086C3E-9A6A-3510-EC4F-607DB41F6CA7}"/>
              </a:ext>
            </a:extLst>
          </p:cNvPr>
          <p:cNvSpPr>
            <a:spLocks noGrp="1"/>
          </p:cNvSpPr>
          <p:nvPr>
            <p:ph type="sldNum" sz="quarter" idx="12"/>
          </p:nvPr>
        </p:nvSpPr>
        <p:spPr/>
        <p:txBody>
          <a:bodyPr/>
          <a:lstStyle/>
          <a:p>
            <a:fld id="{75BC1DAE-85C0-4C1F-8D27-D864D0DE87E5}" type="slidenum">
              <a:rPr lang="tr-TR" smtClean="0"/>
              <a:t>‹#›</a:t>
            </a:fld>
            <a:endParaRPr lang="tr-TR"/>
          </a:p>
        </p:txBody>
      </p:sp>
    </p:spTree>
    <p:extLst>
      <p:ext uri="{BB962C8B-B14F-4D97-AF65-F5344CB8AC3E}">
        <p14:creationId xmlns:p14="http://schemas.microsoft.com/office/powerpoint/2010/main" val="10355996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99133780-C7C8-3FE3-DE68-16082311EEE5}"/>
              </a:ext>
            </a:extLst>
          </p:cNvPr>
          <p:cNvSpPr>
            <a:spLocks noGrp="1"/>
          </p:cNvSpPr>
          <p:nvPr>
            <p:ph type="title"/>
          </p:nvPr>
        </p:nvSpPr>
        <p:spPr>
          <a:xfrm>
            <a:off x="839788" y="457200"/>
            <a:ext cx="3932237" cy="1600200"/>
          </a:xfrm>
        </p:spPr>
        <p:txBody>
          <a:bodyPr anchor="b"/>
          <a:lstStyle>
            <a:lvl1pPr>
              <a:defRPr sz="3200"/>
            </a:lvl1pPr>
          </a:lstStyle>
          <a:p>
            <a:r>
              <a:rPr lang="tr-TR"/>
              <a:t>Asıl başlık stilini düzenlemek için tıklayın</a:t>
            </a:r>
          </a:p>
        </p:txBody>
      </p:sp>
      <p:sp>
        <p:nvSpPr>
          <p:cNvPr id="3" name="Resim Yer Tutucusu 2">
            <a:extLst>
              <a:ext uri="{FF2B5EF4-FFF2-40B4-BE49-F238E27FC236}">
                <a16:creationId xmlns:a16="http://schemas.microsoft.com/office/drawing/2014/main" id="{A5B1028C-5D7D-0D56-53DB-99CCAE7BA21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tr-TR"/>
          </a:p>
        </p:txBody>
      </p:sp>
      <p:sp>
        <p:nvSpPr>
          <p:cNvPr id="4" name="Metin Yer Tutucusu 3">
            <a:extLst>
              <a:ext uri="{FF2B5EF4-FFF2-40B4-BE49-F238E27FC236}">
                <a16:creationId xmlns:a16="http://schemas.microsoft.com/office/drawing/2014/main" id="{EFB3A46F-EAD7-AEE9-03BF-11F07ED905B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tıklayın</a:t>
            </a:r>
          </a:p>
        </p:txBody>
      </p:sp>
      <p:sp>
        <p:nvSpPr>
          <p:cNvPr id="5" name="Veri Yer Tutucusu 4">
            <a:extLst>
              <a:ext uri="{FF2B5EF4-FFF2-40B4-BE49-F238E27FC236}">
                <a16:creationId xmlns:a16="http://schemas.microsoft.com/office/drawing/2014/main" id="{8ED1BF1E-6211-485E-1CE0-50E9DC495B94}"/>
              </a:ext>
            </a:extLst>
          </p:cNvPr>
          <p:cNvSpPr>
            <a:spLocks noGrp="1"/>
          </p:cNvSpPr>
          <p:nvPr>
            <p:ph type="dt" sz="half" idx="10"/>
          </p:nvPr>
        </p:nvSpPr>
        <p:spPr/>
        <p:txBody>
          <a:bodyPr/>
          <a:lstStyle/>
          <a:p>
            <a:fld id="{71ED358D-C836-4555-8A8B-88A4C4FCA0D4}" type="datetimeFigureOut">
              <a:rPr lang="tr-TR" smtClean="0"/>
              <a:t>22.12.2025</a:t>
            </a:fld>
            <a:endParaRPr lang="tr-TR"/>
          </a:p>
        </p:txBody>
      </p:sp>
      <p:sp>
        <p:nvSpPr>
          <p:cNvPr id="6" name="Alt Bilgi Yer Tutucusu 5">
            <a:extLst>
              <a:ext uri="{FF2B5EF4-FFF2-40B4-BE49-F238E27FC236}">
                <a16:creationId xmlns:a16="http://schemas.microsoft.com/office/drawing/2014/main" id="{F1F2E5B1-82DC-D069-AF21-C301602D3744}"/>
              </a:ext>
            </a:extLst>
          </p:cNvPr>
          <p:cNvSpPr>
            <a:spLocks noGrp="1"/>
          </p:cNvSpPr>
          <p:nvPr>
            <p:ph type="ftr" sz="quarter" idx="11"/>
          </p:nvPr>
        </p:nvSpPr>
        <p:spPr/>
        <p:txBody>
          <a:bodyPr/>
          <a:lstStyle/>
          <a:p>
            <a:endParaRPr lang="tr-TR"/>
          </a:p>
        </p:txBody>
      </p:sp>
      <p:sp>
        <p:nvSpPr>
          <p:cNvPr id="7" name="Slayt Numarası Yer Tutucusu 6">
            <a:extLst>
              <a:ext uri="{FF2B5EF4-FFF2-40B4-BE49-F238E27FC236}">
                <a16:creationId xmlns:a16="http://schemas.microsoft.com/office/drawing/2014/main" id="{E7B2CE95-7CCA-A43F-7910-6FEFB2CBD205}"/>
              </a:ext>
            </a:extLst>
          </p:cNvPr>
          <p:cNvSpPr>
            <a:spLocks noGrp="1"/>
          </p:cNvSpPr>
          <p:nvPr>
            <p:ph type="sldNum" sz="quarter" idx="12"/>
          </p:nvPr>
        </p:nvSpPr>
        <p:spPr/>
        <p:txBody>
          <a:bodyPr/>
          <a:lstStyle/>
          <a:p>
            <a:fld id="{75BC1DAE-85C0-4C1F-8D27-D864D0DE87E5}" type="slidenum">
              <a:rPr lang="tr-TR" smtClean="0"/>
              <a:t>‹#›</a:t>
            </a:fld>
            <a:endParaRPr lang="tr-TR"/>
          </a:p>
        </p:txBody>
      </p:sp>
    </p:spTree>
    <p:extLst>
      <p:ext uri="{BB962C8B-B14F-4D97-AF65-F5344CB8AC3E}">
        <p14:creationId xmlns:p14="http://schemas.microsoft.com/office/powerpoint/2010/main" val="3398268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ve Dikey Metin">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072ACDD6-1F0A-7C6D-C51B-33B48CB07E33}"/>
              </a:ext>
            </a:extLst>
          </p:cNvPr>
          <p:cNvSpPr>
            <a:spLocks noGrp="1"/>
          </p:cNvSpPr>
          <p:nvPr>
            <p:ph type="title"/>
          </p:nvPr>
        </p:nvSpPr>
        <p:spPr/>
        <p:txBody>
          <a:bodyPr/>
          <a:lstStyle/>
          <a:p>
            <a:r>
              <a:rPr lang="tr-TR"/>
              <a:t>Asıl başlık stilini düzenlemek için tıklayın</a:t>
            </a:r>
          </a:p>
        </p:txBody>
      </p:sp>
      <p:sp>
        <p:nvSpPr>
          <p:cNvPr id="3" name="Dikey Metin Yer Tutucusu 2">
            <a:extLst>
              <a:ext uri="{FF2B5EF4-FFF2-40B4-BE49-F238E27FC236}">
                <a16:creationId xmlns:a16="http://schemas.microsoft.com/office/drawing/2014/main" id="{755A957A-2DD9-50BC-58BA-A8C9D6E8D2D2}"/>
              </a:ext>
            </a:extLst>
          </p:cNvPr>
          <p:cNvSpPr>
            <a:spLocks noGrp="1"/>
          </p:cNvSpPr>
          <p:nvPr>
            <p:ph type="body" orient="vert" idx="1"/>
          </p:nvPr>
        </p:nvSpPr>
        <p:spPr/>
        <p:txBody>
          <a:bodyPr vert="eaVe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937BD5B3-FA75-2240-294A-900ED1A58CBF}"/>
              </a:ext>
            </a:extLst>
          </p:cNvPr>
          <p:cNvSpPr>
            <a:spLocks noGrp="1"/>
          </p:cNvSpPr>
          <p:nvPr>
            <p:ph type="dt" sz="half" idx="10"/>
          </p:nvPr>
        </p:nvSpPr>
        <p:spPr/>
        <p:txBody>
          <a:bodyPr/>
          <a:lstStyle/>
          <a:p>
            <a:fld id="{71ED358D-C836-4555-8A8B-88A4C4FCA0D4}" type="datetimeFigureOut">
              <a:rPr lang="tr-TR" smtClean="0"/>
              <a:t>22.12.2025</a:t>
            </a:fld>
            <a:endParaRPr lang="tr-TR"/>
          </a:p>
        </p:txBody>
      </p:sp>
      <p:sp>
        <p:nvSpPr>
          <p:cNvPr id="5" name="Alt Bilgi Yer Tutucusu 4">
            <a:extLst>
              <a:ext uri="{FF2B5EF4-FFF2-40B4-BE49-F238E27FC236}">
                <a16:creationId xmlns:a16="http://schemas.microsoft.com/office/drawing/2014/main" id="{C187662E-7D67-28AC-D218-DAF6D9DEE4AF}"/>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135A86ED-5A5D-40FD-2798-34629B657EFD}"/>
              </a:ext>
            </a:extLst>
          </p:cNvPr>
          <p:cNvSpPr>
            <a:spLocks noGrp="1"/>
          </p:cNvSpPr>
          <p:nvPr>
            <p:ph type="sldNum" sz="quarter" idx="12"/>
          </p:nvPr>
        </p:nvSpPr>
        <p:spPr/>
        <p:txBody>
          <a:bodyPr/>
          <a:lstStyle/>
          <a:p>
            <a:fld id="{75BC1DAE-85C0-4C1F-8D27-D864D0DE87E5}" type="slidenum">
              <a:rPr lang="tr-TR" smtClean="0"/>
              <a:t>‹#›</a:t>
            </a:fld>
            <a:endParaRPr lang="tr-TR"/>
          </a:p>
        </p:txBody>
      </p:sp>
    </p:spTree>
    <p:extLst>
      <p:ext uri="{BB962C8B-B14F-4D97-AF65-F5344CB8AC3E}">
        <p14:creationId xmlns:p14="http://schemas.microsoft.com/office/powerpoint/2010/main" val="39031743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Dikey Başlık 1">
            <a:extLst>
              <a:ext uri="{FF2B5EF4-FFF2-40B4-BE49-F238E27FC236}">
                <a16:creationId xmlns:a16="http://schemas.microsoft.com/office/drawing/2014/main" id="{3F0084B6-5F51-B22A-D196-997A3CB85C8B}"/>
              </a:ext>
            </a:extLst>
          </p:cNvPr>
          <p:cNvSpPr>
            <a:spLocks noGrp="1"/>
          </p:cNvSpPr>
          <p:nvPr>
            <p:ph type="title" orient="vert"/>
          </p:nvPr>
        </p:nvSpPr>
        <p:spPr>
          <a:xfrm>
            <a:off x="8724900" y="365125"/>
            <a:ext cx="2628900" cy="5811838"/>
          </a:xfrm>
        </p:spPr>
        <p:txBody>
          <a:bodyPr vert="eaVert"/>
          <a:lstStyle/>
          <a:p>
            <a:r>
              <a:rPr lang="tr-TR"/>
              <a:t>Asıl başlık stilini düzenlemek için tıklayın</a:t>
            </a:r>
          </a:p>
        </p:txBody>
      </p:sp>
      <p:sp>
        <p:nvSpPr>
          <p:cNvPr id="3" name="Dikey Metin Yer Tutucusu 2">
            <a:extLst>
              <a:ext uri="{FF2B5EF4-FFF2-40B4-BE49-F238E27FC236}">
                <a16:creationId xmlns:a16="http://schemas.microsoft.com/office/drawing/2014/main" id="{B2310E36-8AA9-1BF5-11DF-2DD113A3E71D}"/>
              </a:ext>
            </a:extLst>
          </p:cNvPr>
          <p:cNvSpPr>
            <a:spLocks noGrp="1"/>
          </p:cNvSpPr>
          <p:nvPr>
            <p:ph type="body" orient="vert" idx="1"/>
          </p:nvPr>
        </p:nvSpPr>
        <p:spPr>
          <a:xfrm>
            <a:off x="838200" y="365125"/>
            <a:ext cx="7734300" cy="5811838"/>
          </a:xfrm>
        </p:spPr>
        <p:txBody>
          <a:bodyPr vert="eaVe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3C30DAC6-B4B4-D8D1-2AD3-292B439701CB}"/>
              </a:ext>
            </a:extLst>
          </p:cNvPr>
          <p:cNvSpPr>
            <a:spLocks noGrp="1"/>
          </p:cNvSpPr>
          <p:nvPr>
            <p:ph type="dt" sz="half" idx="10"/>
          </p:nvPr>
        </p:nvSpPr>
        <p:spPr/>
        <p:txBody>
          <a:bodyPr/>
          <a:lstStyle/>
          <a:p>
            <a:fld id="{71ED358D-C836-4555-8A8B-88A4C4FCA0D4}" type="datetimeFigureOut">
              <a:rPr lang="tr-TR" smtClean="0"/>
              <a:t>22.12.2025</a:t>
            </a:fld>
            <a:endParaRPr lang="tr-TR"/>
          </a:p>
        </p:txBody>
      </p:sp>
      <p:sp>
        <p:nvSpPr>
          <p:cNvPr id="5" name="Alt Bilgi Yer Tutucusu 4">
            <a:extLst>
              <a:ext uri="{FF2B5EF4-FFF2-40B4-BE49-F238E27FC236}">
                <a16:creationId xmlns:a16="http://schemas.microsoft.com/office/drawing/2014/main" id="{562B7EEA-7C27-08BB-1841-C84A2DD523DF}"/>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7B3C02CD-CA2E-0F1D-9544-0D9D30878337}"/>
              </a:ext>
            </a:extLst>
          </p:cNvPr>
          <p:cNvSpPr>
            <a:spLocks noGrp="1"/>
          </p:cNvSpPr>
          <p:nvPr>
            <p:ph type="sldNum" sz="quarter" idx="12"/>
          </p:nvPr>
        </p:nvSpPr>
        <p:spPr/>
        <p:txBody>
          <a:bodyPr/>
          <a:lstStyle/>
          <a:p>
            <a:fld id="{75BC1DAE-85C0-4C1F-8D27-D864D0DE87E5}" type="slidenum">
              <a:rPr lang="tr-TR" smtClean="0"/>
              <a:t>‹#›</a:t>
            </a:fld>
            <a:endParaRPr lang="tr-TR"/>
          </a:p>
        </p:txBody>
      </p:sp>
    </p:spTree>
    <p:extLst>
      <p:ext uri="{BB962C8B-B14F-4D97-AF65-F5344CB8AC3E}">
        <p14:creationId xmlns:p14="http://schemas.microsoft.com/office/powerpoint/2010/main" val="24207999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Başlık Yer Tutucusu 1">
            <a:extLst>
              <a:ext uri="{FF2B5EF4-FFF2-40B4-BE49-F238E27FC236}">
                <a16:creationId xmlns:a16="http://schemas.microsoft.com/office/drawing/2014/main" id="{405EC70A-5D45-D780-A244-3B0D98C9FD4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tr-TR"/>
              <a:t>Asıl başlık stilini düzenlemek için tıklayın</a:t>
            </a:r>
          </a:p>
        </p:txBody>
      </p:sp>
      <p:sp>
        <p:nvSpPr>
          <p:cNvPr id="3" name="Metin Yer Tutucusu 2">
            <a:extLst>
              <a:ext uri="{FF2B5EF4-FFF2-40B4-BE49-F238E27FC236}">
                <a16:creationId xmlns:a16="http://schemas.microsoft.com/office/drawing/2014/main" id="{60F96AF0-C16A-AEBA-3572-7B074196BBD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083DD30D-7AD8-8CD4-6A20-4EBF23802A9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1ED358D-C836-4555-8A8B-88A4C4FCA0D4}" type="datetimeFigureOut">
              <a:rPr lang="tr-TR" smtClean="0"/>
              <a:t>22.12.2025</a:t>
            </a:fld>
            <a:endParaRPr lang="tr-TR"/>
          </a:p>
        </p:txBody>
      </p:sp>
      <p:sp>
        <p:nvSpPr>
          <p:cNvPr id="5" name="Alt Bilgi Yer Tutucusu 4">
            <a:extLst>
              <a:ext uri="{FF2B5EF4-FFF2-40B4-BE49-F238E27FC236}">
                <a16:creationId xmlns:a16="http://schemas.microsoft.com/office/drawing/2014/main" id="{1B56EA17-C224-4FCF-DE62-4DA9B0772FE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tr-TR"/>
          </a:p>
        </p:txBody>
      </p:sp>
      <p:sp>
        <p:nvSpPr>
          <p:cNvPr id="6" name="Slayt Numarası Yer Tutucusu 5">
            <a:extLst>
              <a:ext uri="{FF2B5EF4-FFF2-40B4-BE49-F238E27FC236}">
                <a16:creationId xmlns:a16="http://schemas.microsoft.com/office/drawing/2014/main" id="{37FD5C92-BDB9-94AD-DABC-ACA8A852AC0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5BC1DAE-85C0-4C1F-8D27-D864D0DE87E5}" type="slidenum">
              <a:rPr lang="tr-TR" smtClean="0"/>
              <a:t>‹#›</a:t>
            </a:fld>
            <a:endParaRPr lang="tr-TR"/>
          </a:p>
        </p:txBody>
      </p:sp>
    </p:spTree>
    <p:extLst>
      <p:ext uri="{BB962C8B-B14F-4D97-AF65-F5344CB8AC3E}">
        <p14:creationId xmlns:p14="http://schemas.microsoft.com/office/powerpoint/2010/main" val="195236306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11.jpeg"/></Relationships>
</file>

<file path=ppt/slides/_rels/slide7.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46F46E50-207B-DCA1-98A2-A419FDA6702E}"/>
              </a:ext>
            </a:extLst>
          </p:cNvPr>
          <p:cNvSpPr>
            <a:spLocks noGrp="1"/>
          </p:cNvSpPr>
          <p:nvPr>
            <p:ph type="ctrTitle"/>
          </p:nvPr>
        </p:nvSpPr>
        <p:spPr/>
        <p:txBody>
          <a:bodyPr/>
          <a:lstStyle/>
          <a:p>
            <a:endParaRPr lang="tr-TR"/>
          </a:p>
        </p:txBody>
      </p:sp>
      <p:sp>
        <p:nvSpPr>
          <p:cNvPr id="3" name="Alt Başlık 2">
            <a:extLst>
              <a:ext uri="{FF2B5EF4-FFF2-40B4-BE49-F238E27FC236}">
                <a16:creationId xmlns:a16="http://schemas.microsoft.com/office/drawing/2014/main" id="{C038D0A8-FFCB-F419-06A1-F3FEC1552A4B}"/>
              </a:ext>
            </a:extLst>
          </p:cNvPr>
          <p:cNvSpPr>
            <a:spLocks noGrp="1"/>
          </p:cNvSpPr>
          <p:nvPr>
            <p:ph type="subTitle" idx="1"/>
          </p:nvPr>
        </p:nvSpPr>
        <p:spPr/>
        <p:txBody>
          <a:bodyPr/>
          <a:lstStyle/>
          <a:p>
            <a:endParaRPr lang="tr-TR"/>
          </a:p>
        </p:txBody>
      </p:sp>
      <p:pic>
        <p:nvPicPr>
          <p:cNvPr id="6" name="Resim 5">
            <a:extLst>
              <a:ext uri="{FF2B5EF4-FFF2-40B4-BE49-F238E27FC236}">
                <a16:creationId xmlns:a16="http://schemas.microsoft.com/office/drawing/2014/main" id="{C3A0FEC1-E33A-9886-246B-226A32A5F8F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7" name="Dikdörtgen 6">
            <a:extLst>
              <a:ext uri="{FF2B5EF4-FFF2-40B4-BE49-F238E27FC236}">
                <a16:creationId xmlns:a16="http://schemas.microsoft.com/office/drawing/2014/main" id="{103EE38C-CB37-9C26-788D-2D703A79FEC7}"/>
              </a:ext>
            </a:extLst>
          </p:cNvPr>
          <p:cNvSpPr/>
          <p:nvPr/>
        </p:nvSpPr>
        <p:spPr>
          <a:xfrm>
            <a:off x="0" y="0"/>
            <a:ext cx="12192000" cy="6858000"/>
          </a:xfrm>
          <a:prstGeom prst="rect">
            <a:avLst/>
          </a:prstGeom>
          <a:solidFill>
            <a:schemeClr val="tx1">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tr-TR" dirty="0"/>
          </a:p>
        </p:txBody>
      </p:sp>
      <p:sp>
        <p:nvSpPr>
          <p:cNvPr id="8" name="Metin kutusu 7">
            <a:extLst>
              <a:ext uri="{FF2B5EF4-FFF2-40B4-BE49-F238E27FC236}">
                <a16:creationId xmlns:a16="http://schemas.microsoft.com/office/drawing/2014/main" id="{36AC4333-00B5-FFE8-6A44-DE0E3C7F10DD}"/>
              </a:ext>
            </a:extLst>
          </p:cNvPr>
          <p:cNvSpPr txBox="1"/>
          <p:nvPr/>
        </p:nvSpPr>
        <p:spPr>
          <a:xfrm>
            <a:off x="2052320" y="535523"/>
            <a:ext cx="9144000" cy="830997"/>
          </a:xfrm>
          <a:prstGeom prst="rect">
            <a:avLst/>
          </a:prstGeom>
          <a:noFill/>
        </p:spPr>
        <p:txBody>
          <a:bodyPr wrap="square" rtlCol="0">
            <a:spAutoFit/>
          </a:bodyPr>
          <a:lstStyle/>
          <a:p>
            <a:r>
              <a:rPr lang="tr-TR" sz="4800" dirty="0">
                <a:solidFill>
                  <a:schemeClr val="bg1"/>
                </a:solidFill>
                <a:latin typeface="Times New Roman" panose="02020603050405020304" pitchFamily="18" charset="0"/>
                <a:cs typeface="Times New Roman" panose="02020603050405020304" pitchFamily="18" charset="0"/>
              </a:rPr>
              <a:t>FET 445 VERİ MADENCİLİĞİ</a:t>
            </a:r>
          </a:p>
        </p:txBody>
      </p:sp>
      <p:sp>
        <p:nvSpPr>
          <p:cNvPr id="9" name="Metin kutusu 8">
            <a:extLst>
              <a:ext uri="{FF2B5EF4-FFF2-40B4-BE49-F238E27FC236}">
                <a16:creationId xmlns:a16="http://schemas.microsoft.com/office/drawing/2014/main" id="{D78E703E-65F3-190D-7699-E23A751CE444}"/>
              </a:ext>
            </a:extLst>
          </p:cNvPr>
          <p:cNvSpPr txBox="1"/>
          <p:nvPr/>
        </p:nvSpPr>
        <p:spPr>
          <a:xfrm>
            <a:off x="193040" y="1849120"/>
            <a:ext cx="11998960" cy="646331"/>
          </a:xfrm>
          <a:prstGeom prst="rect">
            <a:avLst/>
          </a:prstGeom>
          <a:noFill/>
        </p:spPr>
        <p:txBody>
          <a:bodyPr wrap="square" rtlCol="0">
            <a:spAutoFit/>
          </a:bodyPr>
          <a:lstStyle/>
          <a:p>
            <a:pPr algn="ctr"/>
            <a:r>
              <a:rPr lang="tr-TR" sz="3600" dirty="0">
                <a:solidFill>
                  <a:schemeClr val="bg1"/>
                </a:solidFill>
                <a:latin typeface="Times New Roman" panose="02020603050405020304" pitchFamily="18" charset="0"/>
                <a:cs typeface="Times New Roman" panose="02020603050405020304" pitchFamily="18" charset="0"/>
              </a:rPr>
              <a:t>DİYABET HASTALARININ YENİDEN YATIŞ TAHMİNİ</a:t>
            </a:r>
          </a:p>
        </p:txBody>
      </p:sp>
      <p:sp>
        <p:nvSpPr>
          <p:cNvPr id="10" name="Metin kutusu 9">
            <a:extLst>
              <a:ext uri="{FF2B5EF4-FFF2-40B4-BE49-F238E27FC236}">
                <a16:creationId xmlns:a16="http://schemas.microsoft.com/office/drawing/2014/main" id="{0ECD42E0-DE5E-2303-16C7-5011FCDFF485}"/>
              </a:ext>
            </a:extLst>
          </p:cNvPr>
          <p:cNvSpPr txBox="1"/>
          <p:nvPr/>
        </p:nvSpPr>
        <p:spPr>
          <a:xfrm>
            <a:off x="426720" y="5571778"/>
            <a:ext cx="4450080" cy="707886"/>
          </a:xfrm>
          <a:prstGeom prst="rect">
            <a:avLst/>
          </a:prstGeom>
          <a:noFill/>
        </p:spPr>
        <p:txBody>
          <a:bodyPr wrap="square" rtlCol="0">
            <a:spAutoFit/>
          </a:bodyPr>
          <a:lstStyle/>
          <a:p>
            <a:r>
              <a:rPr lang="tr-TR" sz="2000" dirty="0">
                <a:solidFill>
                  <a:schemeClr val="bg1"/>
                </a:solidFill>
                <a:latin typeface="Times New Roman" panose="02020603050405020304" pitchFamily="18" charset="0"/>
                <a:cs typeface="Times New Roman" panose="02020603050405020304" pitchFamily="18" charset="0"/>
              </a:rPr>
              <a:t>Eslem Berra Özel – 22040301016</a:t>
            </a:r>
          </a:p>
          <a:p>
            <a:r>
              <a:rPr lang="tr-TR" sz="2000" dirty="0">
                <a:solidFill>
                  <a:schemeClr val="bg1"/>
                </a:solidFill>
                <a:latin typeface="Times New Roman" panose="02020603050405020304" pitchFamily="18" charset="0"/>
                <a:cs typeface="Times New Roman" panose="02020603050405020304" pitchFamily="18" charset="0"/>
              </a:rPr>
              <a:t>Esma Betül </a:t>
            </a:r>
            <a:r>
              <a:rPr lang="tr-TR" sz="2000" dirty="0" err="1">
                <a:solidFill>
                  <a:schemeClr val="bg1"/>
                </a:solidFill>
                <a:latin typeface="Times New Roman" panose="02020603050405020304" pitchFamily="18" charset="0"/>
                <a:cs typeface="Times New Roman" panose="02020603050405020304" pitchFamily="18" charset="0"/>
              </a:rPr>
              <a:t>Kocaahmet</a:t>
            </a:r>
            <a:r>
              <a:rPr lang="tr-TR" sz="2000" dirty="0">
                <a:solidFill>
                  <a:schemeClr val="bg1"/>
                </a:solidFill>
                <a:latin typeface="Times New Roman" panose="02020603050405020304" pitchFamily="18" charset="0"/>
                <a:cs typeface="Times New Roman" panose="02020603050405020304" pitchFamily="18" charset="0"/>
              </a:rPr>
              <a:t> - 21040301052</a:t>
            </a:r>
          </a:p>
        </p:txBody>
      </p:sp>
      <p:sp>
        <p:nvSpPr>
          <p:cNvPr id="11" name="Metin kutusu 10">
            <a:extLst>
              <a:ext uri="{FF2B5EF4-FFF2-40B4-BE49-F238E27FC236}">
                <a16:creationId xmlns:a16="http://schemas.microsoft.com/office/drawing/2014/main" id="{63F63332-EA0C-DBBD-F8F1-174191A67A7A}"/>
              </a:ext>
            </a:extLst>
          </p:cNvPr>
          <p:cNvSpPr txBox="1"/>
          <p:nvPr/>
        </p:nvSpPr>
        <p:spPr>
          <a:xfrm>
            <a:off x="8244840" y="5571778"/>
            <a:ext cx="3810000" cy="707886"/>
          </a:xfrm>
          <a:prstGeom prst="rect">
            <a:avLst/>
          </a:prstGeom>
          <a:noFill/>
        </p:spPr>
        <p:txBody>
          <a:bodyPr wrap="square" rtlCol="0">
            <a:spAutoFit/>
          </a:bodyPr>
          <a:lstStyle/>
          <a:p>
            <a:r>
              <a:rPr lang="tr-TR" sz="2000" dirty="0">
                <a:solidFill>
                  <a:schemeClr val="bg1"/>
                </a:solidFill>
                <a:latin typeface="Times New Roman" panose="02020603050405020304" pitchFamily="18" charset="0"/>
                <a:cs typeface="Times New Roman" panose="02020603050405020304" pitchFamily="18" charset="0"/>
              </a:rPr>
              <a:t>Esma </a:t>
            </a:r>
            <a:r>
              <a:rPr lang="tr-TR" sz="2000" dirty="0" err="1">
                <a:solidFill>
                  <a:schemeClr val="bg1"/>
                </a:solidFill>
                <a:latin typeface="Times New Roman" panose="02020603050405020304" pitchFamily="18" charset="0"/>
                <a:cs typeface="Times New Roman" panose="02020603050405020304" pitchFamily="18" charset="0"/>
              </a:rPr>
              <a:t>Gelebek</a:t>
            </a:r>
            <a:r>
              <a:rPr lang="tr-TR" sz="2000" dirty="0">
                <a:solidFill>
                  <a:schemeClr val="bg1"/>
                </a:solidFill>
                <a:latin typeface="Times New Roman" panose="02020603050405020304" pitchFamily="18" charset="0"/>
                <a:cs typeface="Times New Roman" panose="02020603050405020304" pitchFamily="18" charset="0"/>
              </a:rPr>
              <a:t> – 22040301063</a:t>
            </a:r>
          </a:p>
          <a:p>
            <a:r>
              <a:rPr lang="tr-TR" sz="2000" dirty="0">
                <a:solidFill>
                  <a:schemeClr val="bg1"/>
                </a:solidFill>
                <a:latin typeface="Times New Roman" panose="02020603050405020304" pitchFamily="18" charset="0"/>
                <a:cs typeface="Times New Roman" panose="02020603050405020304" pitchFamily="18" charset="0"/>
              </a:rPr>
              <a:t>Şevval </a:t>
            </a:r>
            <a:r>
              <a:rPr lang="tr-TR" sz="2000" dirty="0" err="1">
                <a:solidFill>
                  <a:schemeClr val="bg1"/>
                </a:solidFill>
                <a:latin typeface="Times New Roman" panose="02020603050405020304" pitchFamily="18" charset="0"/>
                <a:cs typeface="Times New Roman" panose="02020603050405020304" pitchFamily="18" charset="0"/>
              </a:rPr>
              <a:t>Öveyik</a:t>
            </a:r>
            <a:r>
              <a:rPr lang="tr-TR" sz="2000" dirty="0">
                <a:solidFill>
                  <a:schemeClr val="bg1"/>
                </a:solidFill>
                <a:latin typeface="Times New Roman" panose="02020603050405020304" pitchFamily="18" charset="0"/>
                <a:cs typeface="Times New Roman" panose="02020603050405020304" pitchFamily="18" charset="0"/>
              </a:rPr>
              <a:t> - 22040301034</a:t>
            </a:r>
          </a:p>
        </p:txBody>
      </p:sp>
      <p:sp>
        <p:nvSpPr>
          <p:cNvPr id="12" name="Metin kutusu 11">
            <a:extLst>
              <a:ext uri="{FF2B5EF4-FFF2-40B4-BE49-F238E27FC236}">
                <a16:creationId xmlns:a16="http://schemas.microsoft.com/office/drawing/2014/main" id="{6DA279C6-8313-772E-6C01-057ADC69D722}"/>
              </a:ext>
            </a:extLst>
          </p:cNvPr>
          <p:cNvSpPr txBox="1"/>
          <p:nvPr/>
        </p:nvSpPr>
        <p:spPr>
          <a:xfrm>
            <a:off x="4378960" y="2999294"/>
            <a:ext cx="3434080" cy="523220"/>
          </a:xfrm>
          <a:prstGeom prst="rect">
            <a:avLst/>
          </a:prstGeom>
          <a:noFill/>
        </p:spPr>
        <p:txBody>
          <a:bodyPr wrap="square" rtlCol="0">
            <a:spAutoFit/>
          </a:bodyPr>
          <a:lstStyle/>
          <a:p>
            <a:r>
              <a:rPr lang="tr-TR" sz="2800" dirty="0">
                <a:solidFill>
                  <a:schemeClr val="bg1"/>
                </a:solidFill>
                <a:latin typeface="Times New Roman" panose="02020603050405020304" pitchFamily="18" charset="0"/>
                <a:cs typeface="Times New Roman" panose="02020603050405020304" pitchFamily="18" charset="0"/>
              </a:rPr>
              <a:t>İNSÜLİN AVCILARI</a:t>
            </a:r>
          </a:p>
        </p:txBody>
      </p:sp>
      <p:sp>
        <p:nvSpPr>
          <p:cNvPr id="13" name="Metin kutusu 12">
            <a:extLst>
              <a:ext uri="{FF2B5EF4-FFF2-40B4-BE49-F238E27FC236}">
                <a16:creationId xmlns:a16="http://schemas.microsoft.com/office/drawing/2014/main" id="{0EC341AF-5A2E-CD88-F62E-610740F20820}"/>
              </a:ext>
            </a:extLst>
          </p:cNvPr>
          <p:cNvSpPr txBox="1"/>
          <p:nvPr/>
        </p:nvSpPr>
        <p:spPr>
          <a:xfrm>
            <a:off x="2804160" y="4177884"/>
            <a:ext cx="9387840" cy="369332"/>
          </a:xfrm>
          <a:prstGeom prst="rect">
            <a:avLst/>
          </a:prstGeom>
          <a:noFill/>
        </p:spPr>
        <p:txBody>
          <a:bodyPr wrap="square" rtlCol="0">
            <a:spAutoFit/>
          </a:bodyPr>
          <a:lstStyle/>
          <a:p>
            <a:r>
              <a:rPr lang="tr-TR" dirty="0">
                <a:solidFill>
                  <a:schemeClr val="bg1"/>
                </a:solidFill>
                <a:latin typeface="Times New Roman" panose="02020603050405020304" pitchFamily="18" charset="0"/>
                <a:cs typeface="Times New Roman" panose="02020603050405020304" pitchFamily="18" charset="0"/>
              </a:rPr>
              <a:t>Youtube Linki : https://www.youtube.com/watch?v=M5w96sgw3JM</a:t>
            </a:r>
          </a:p>
        </p:txBody>
      </p:sp>
      <p:sp>
        <p:nvSpPr>
          <p:cNvPr id="14" name="Metin kutusu 13">
            <a:extLst>
              <a:ext uri="{FF2B5EF4-FFF2-40B4-BE49-F238E27FC236}">
                <a16:creationId xmlns:a16="http://schemas.microsoft.com/office/drawing/2014/main" id="{C2BAB9DE-6A2A-E871-C61C-3C360E802958}"/>
              </a:ext>
            </a:extLst>
          </p:cNvPr>
          <p:cNvSpPr txBox="1"/>
          <p:nvPr/>
        </p:nvSpPr>
        <p:spPr>
          <a:xfrm>
            <a:off x="5283200" y="6322477"/>
            <a:ext cx="1341120" cy="369332"/>
          </a:xfrm>
          <a:prstGeom prst="rect">
            <a:avLst/>
          </a:prstGeom>
          <a:noFill/>
        </p:spPr>
        <p:txBody>
          <a:bodyPr wrap="square" rtlCol="0">
            <a:spAutoFit/>
          </a:bodyPr>
          <a:lstStyle/>
          <a:p>
            <a:r>
              <a:rPr lang="tr-TR" dirty="0">
                <a:solidFill>
                  <a:schemeClr val="bg1"/>
                </a:solidFill>
                <a:latin typeface="Times New Roman" panose="02020603050405020304" pitchFamily="18" charset="0"/>
                <a:cs typeface="Times New Roman" panose="02020603050405020304" pitchFamily="18" charset="0"/>
              </a:rPr>
              <a:t>20.12.2025</a:t>
            </a:r>
          </a:p>
        </p:txBody>
      </p:sp>
    </p:spTree>
    <p:extLst>
      <p:ext uri="{BB962C8B-B14F-4D97-AF65-F5344CB8AC3E}">
        <p14:creationId xmlns:p14="http://schemas.microsoft.com/office/powerpoint/2010/main" val="23619307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13A46C30-E55B-0AD0-3231-E3ED3F68129C}"/>
              </a:ext>
            </a:extLst>
          </p:cNvPr>
          <p:cNvSpPr>
            <a:spLocks noGrp="1"/>
          </p:cNvSpPr>
          <p:nvPr>
            <p:ph type="title"/>
          </p:nvPr>
        </p:nvSpPr>
        <p:spPr/>
        <p:txBody>
          <a:bodyPr/>
          <a:lstStyle/>
          <a:p>
            <a:endParaRPr lang="tr-TR"/>
          </a:p>
        </p:txBody>
      </p:sp>
      <p:pic>
        <p:nvPicPr>
          <p:cNvPr id="9" name="İçerik Yer Tutucusu 8">
            <a:extLst>
              <a:ext uri="{FF2B5EF4-FFF2-40B4-BE49-F238E27FC236}">
                <a16:creationId xmlns:a16="http://schemas.microsoft.com/office/drawing/2014/main" id="{A3739824-0B75-D295-39D7-A385DD9E383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927" y="0"/>
            <a:ext cx="12197927" cy="6858000"/>
          </a:xfrm>
        </p:spPr>
      </p:pic>
      <p:sp>
        <p:nvSpPr>
          <p:cNvPr id="10" name="Dikdörtgen 9">
            <a:extLst>
              <a:ext uri="{FF2B5EF4-FFF2-40B4-BE49-F238E27FC236}">
                <a16:creationId xmlns:a16="http://schemas.microsoft.com/office/drawing/2014/main" id="{62EF4C96-01B1-792F-C52D-9162D6D5C9F5}"/>
              </a:ext>
            </a:extLst>
          </p:cNvPr>
          <p:cNvSpPr/>
          <p:nvPr/>
        </p:nvSpPr>
        <p:spPr>
          <a:xfrm>
            <a:off x="0" y="0"/>
            <a:ext cx="12192000" cy="6858000"/>
          </a:xfrm>
          <a:prstGeom prst="rect">
            <a:avLst/>
          </a:prstGeom>
          <a:solidFill>
            <a:schemeClr val="tx1">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1" name="Metin kutusu 10">
            <a:extLst>
              <a:ext uri="{FF2B5EF4-FFF2-40B4-BE49-F238E27FC236}">
                <a16:creationId xmlns:a16="http://schemas.microsoft.com/office/drawing/2014/main" id="{B06FA9B4-EEE2-6A78-E12C-4A0D3344643B}"/>
              </a:ext>
            </a:extLst>
          </p:cNvPr>
          <p:cNvSpPr txBox="1"/>
          <p:nvPr/>
        </p:nvSpPr>
        <p:spPr>
          <a:xfrm>
            <a:off x="1993900" y="184626"/>
            <a:ext cx="7731760" cy="830997"/>
          </a:xfrm>
          <a:prstGeom prst="rect">
            <a:avLst/>
          </a:prstGeom>
          <a:noFill/>
        </p:spPr>
        <p:txBody>
          <a:bodyPr wrap="square" rtlCol="0">
            <a:spAutoFit/>
          </a:bodyPr>
          <a:lstStyle/>
          <a:p>
            <a:pPr algn="ctr"/>
            <a:r>
              <a:rPr lang="tr-TR" sz="4800" dirty="0">
                <a:solidFill>
                  <a:schemeClr val="bg1"/>
                </a:solidFill>
                <a:latin typeface="Times New Roman" panose="02020603050405020304" pitchFamily="18" charset="0"/>
                <a:cs typeface="Times New Roman" panose="02020603050405020304" pitchFamily="18" charset="0"/>
              </a:rPr>
              <a:t>PROBLEM TANIMI</a:t>
            </a:r>
          </a:p>
        </p:txBody>
      </p:sp>
      <p:sp>
        <p:nvSpPr>
          <p:cNvPr id="12" name="Metin kutusu 11">
            <a:extLst>
              <a:ext uri="{FF2B5EF4-FFF2-40B4-BE49-F238E27FC236}">
                <a16:creationId xmlns:a16="http://schemas.microsoft.com/office/drawing/2014/main" id="{26EEFADA-BCEB-DB22-8148-88A53AB53696}"/>
              </a:ext>
            </a:extLst>
          </p:cNvPr>
          <p:cNvSpPr txBox="1"/>
          <p:nvPr/>
        </p:nvSpPr>
        <p:spPr>
          <a:xfrm>
            <a:off x="838200" y="1229360"/>
            <a:ext cx="10734040" cy="4524315"/>
          </a:xfrm>
          <a:prstGeom prst="rect">
            <a:avLst/>
          </a:prstGeom>
          <a:noFill/>
        </p:spPr>
        <p:txBody>
          <a:bodyPr wrap="square" rtlCol="0">
            <a:spAutoFit/>
          </a:bodyPr>
          <a:lstStyle/>
          <a:p>
            <a:r>
              <a:rPr lang="tr-TR" sz="3200" dirty="0">
                <a:solidFill>
                  <a:schemeClr val="bg1"/>
                </a:solidFill>
                <a:latin typeface="Times New Roman" panose="02020603050405020304" pitchFamily="18" charset="0"/>
                <a:cs typeface="Times New Roman" panose="02020603050405020304" pitchFamily="18" charset="0"/>
              </a:rPr>
              <a:t>Bu proje, diyabet hastalarının taburcu olduktan sonraki 30 gün içinde yeniden hastaneye yatış yapma olasılığını tahmin etmeyi amaçlamaktadır. Yeniden yatışlar, sağlık hizmeti kalitesi ve maliyet yönetimi açısından kritik bir göstergedir ve diyabet gibi kronik hastalıklarda sık görülmektedir.  Çalışmanın amacı, yalnızca tahmin performansı yüksek değil, aynı zamanda klinik olarak yorumlanabilir bir model geliştirerek riskli hastaların erken tespitine ve hasta bakım kalitesinin artırılmasına katkı sağlamaktır.</a:t>
            </a:r>
          </a:p>
        </p:txBody>
      </p:sp>
    </p:spTree>
    <p:extLst>
      <p:ext uri="{BB962C8B-B14F-4D97-AF65-F5344CB8AC3E}">
        <p14:creationId xmlns:p14="http://schemas.microsoft.com/office/powerpoint/2010/main" val="9572228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802617A7-E863-87F1-FFD2-6F2F21C857D4}"/>
              </a:ext>
            </a:extLst>
          </p:cNvPr>
          <p:cNvSpPr>
            <a:spLocks noGrp="1"/>
          </p:cNvSpPr>
          <p:nvPr>
            <p:ph type="title"/>
          </p:nvPr>
        </p:nvSpPr>
        <p:spPr/>
        <p:txBody>
          <a:bodyPr/>
          <a:lstStyle/>
          <a:p>
            <a:endParaRPr lang="tr-TR"/>
          </a:p>
        </p:txBody>
      </p:sp>
      <p:pic>
        <p:nvPicPr>
          <p:cNvPr id="6" name="İçerik Yer Tutucusu 5">
            <a:extLst>
              <a:ext uri="{FF2B5EF4-FFF2-40B4-BE49-F238E27FC236}">
                <a16:creationId xmlns:a16="http://schemas.microsoft.com/office/drawing/2014/main" id="{D23556F8-0607-068D-5175-5157E371739C}"/>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0" y="0"/>
            <a:ext cx="12192000" cy="6858000"/>
          </a:xfrm>
        </p:spPr>
      </p:pic>
      <p:sp>
        <p:nvSpPr>
          <p:cNvPr id="7" name="Dikdörtgen 6">
            <a:extLst>
              <a:ext uri="{FF2B5EF4-FFF2-40B4-BE49-F238E27FC236}">
                <a16:creationId xmlns:a16="http://schemas.microsoft.com/office/drawing/2014/main" id="{1961F9FC-B727-DB0E-BD3A-0E26BF93BD6A}"/>
              </a:ext>
            </a:extLst>
          </p:cNvPr>
          <p:cNvSpPr/>
          <p:nvPr/>
        </p:nvSpPr>
        <p:spPr>
          <a:xfrm>
            <a:off x="0" y="0"/>
            <a:ext cx="12192000" cy="6858000"/>
          </a:xfrm>
          <a:prstGeom prst="rect">
            <a:avLst/>
          </a:prstGeom>
          <a:solidFill>
            <a:schemeClr val="tx1">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8" name="Metin kutusu 7">
            <a:extLst>
              <a:ext uri="{FF2B5EF4-FFF2-40B4-BE49-F238E27FC236}">
                <a16:creationId xmlns:a16="http://schemas.microsoft.com/office/drawing/2014/main" id="{BA47F7AF-964A-6475-205A-66AC85B23301}"/>
              </a:ext>
            </a:extLst>
          </p:cNvPr>
          <p:cNvSpPr txBox="1"/>
          <p:nvPr/>
        </p:nvSpPr>
        <p:spPr>
          <a:xfrm>
            <a:off x="2341880" y="252214"/>
            <a:ext cx="6685280" cy="523220"/>
          </a:xfrm>
          <a:prstGeom prst="rect">
            <a:avLst/>
          </a:prstGeom>
          <a:noFill/>
        </p:spPr>
        <p:txBody>
          <a:bodyPr wrap="square" rtlCol="0">
            <a:spAutoFit/>
          </a:bodyPr>
          <a:lstStyle/>
          <a:p>
            <a:pPr algn="ctr"/>
            <a:r>
              <a:rPr lang="tr-TR" sz="2800" dirty="0">
                <a:solidFill>
                  <a:schemeClr val="bg1"/>
                </a:solidFill>
                <a:latin typeface="Times New Roman" panose="02020603050405020304" pitchFamily="18" charset="0"/>
                <a:cs typeface="Times New Roman" panose="02020603050405020304" pitchFamily="18" charset="0"/>
              </a:rPr>
              <a:t>VERİ SETİ AÇIKLAMASI</a:t>
            </a:r>
          </a:p>
        </p:txBody>
      </p:sp>
      <p:sp>
        <p:nvSpPr>
          <p:cNvPr id="10" name="Metin kutusu 9">
            <a:extLst>
              <a:ext uri="{FF2B5EF4-FFF2-40B4-BE49-F238E27FC236}">
                <a16:creationId xmlns:a16="http://schemas.microsoft.com/office/drawing/2014/main" id="{B18029C6-7F9E-E489-63E0-61E2AB21779F}"/>
              </a:ext>
            </a:extLst>
          </p:cNvPr>
          <p:cNvSpPr txBox="1"/>
          <p:nvPr/>
        </p:nvSpPr>
        <p:spPr>
          <a:xfrm>
            <a:off x="477520" y="6005263"/>
            <a:ext cx="12192000" cy="307777"/>
          </a:xfrm>
          <a:prstGeom prst="rect">
            <a:avLst/>
          </a:prstGeom>
          <a:noFill/>
        </p:spPr>
        <p:txBody>
          <a:bodyPr wrap="square" rtlCol="0">
            <a:spAutoFit/>
          </a:bodyPr>
          <a:lstStyle/>
          <a:p>
            <a:r>
              <a:rPr lang="tr-TR" sz="1400" dirty="0">
                <a:solidFill>
                  <a:schemeClr val="bg1"/>
                </a:solidFill>
                <a:latin typeface="Times New Roman" panose="02020603050405020304" pitchFamily="18" charset="0"/>
                <a:cs typeface="Times New Roman" panose="02020603050405020304" pitchFamily="18" charset="0"/>
              </a:rPr>
              <a:t>VERİ SETİ LİNKİ  : https://figshare.com/articles/dataset/Diabetes_130-US_hospitals_for_years_1999-2008_Data_Set_Raw/25429204?file=45110029</a:t>
            </a:r>
          </a:p>
        </p:txBody>
      </p:sp>
      <p:sp>
        <p:nvSpPr>
          <p:cNvPr id="12" name="Metin kutusu 11">
            <a:extLst>
              <a:ext uri="{FF2B5EF4-FFF2-40B4-BE49-F238E27FC236}">
                <a16:creationId xmlns:a16="http://schemas.microsoft.com/office/drawing/2014/main" id="{39B278EE-A500-C072-D0C0-771AC7C20A51}"/>
              </a:ext>
            </a:extLst>
          </p:cNvPr>
          <p:cNvSpPr txBox="1"/>
          <p:nvPr/>
        </p:nvSpPr>
        <p:spPr>
          <a:xfrm>
            <a:off x="241936" y="997286"/>
            <a:ext cx="5643456" cy="4247317"/>
          </a:xfrm>
          <a:prstGeom prst="rect">
            <a:avLst/>
          </a:prstGeom>
          <a:noFill/>
        </p:spPr>
        <p:txBody>
          <a:bodyPr wrap="square" rtlCol="0">
            <a:spAutoFit/>
          </a:bodyPr>
          <a:lstStyle/>
          <a:p>
            <a:r>
              <a:rPr lang="tr-TR" dirty="0">
                <a:solidFill>
                  <a:schemeClr val="bg1"/>
                </a:solidFill>
                <a:latin typeface="Times New Roman" panose="02020603050405020304" pitchFamily="18" charset="0"/>
                <a:cs typeface="Times New Roman" panose="02020603050405020304" pitchFamily="18" charset="0"/>
              </a:rPr>
              <a:t>Bu çalışma kapsamında kullanılan veri seti, 1999–2008 yılları arasında Amerika Birleşik Devletleri’ndeki 130 farklı hastaneden toplanmış ve diyabet hastalarına ait 10 yıllık klinik kayıtları içermektedir. Veri setinin temel amacı, hastaların hastaneden taburcu edildikten sonraki 30 gün içinde tekrar hastaneye yatırılıp yatırılmayacağını (</a:t>
            </a:r>
            <a:r>
              <a:rPr lang="tr-TR" dirty="0" err="1">
                <a:solidFill>
                  <a:schemeClr val="bg1"/>
                </a:solidFill>
                <a:latin typeface="Times New Roman" panose="02020603050405020304" pitchFamily="18" charset="0"/>
                <a:cs typeface="Times New Roman" panose="02020603050405020304" pitchFamily="18" charset="0"/>
              </a:rPr>
              <a:t>readmission</a:t>
            </a:r>
            <a:r>
              <a:rPr lang="tr-TR" dirty="0">
                <a:solidFill>
                  <a:schemeClr val="bg1"/>
                </a:solidFill>
                <a:latin typeface="Times New Roman" panose="02020603050405020304" pitchFamily="18" charset="0"/>
                <a:cs typeface="Times New Roman" panose="02020603050405020304" pitchFamily="18" charset="0"/>
              </a:rPr>
              <a:t>) tahmin etmektir. Toplamda yaklaşık 101.766 gözlem ve 50 özellikten oluşan veri seti, hem kategorik hem de sayısal değişkenleri içeren karmaşık bir yapıya sahiptir. Kategorik özellikler arasında hastaların ırkı, cinsiyeti, yaş grubu (10’ar yıllık aralıklarla), tanı kodları (ICD-9) ve kullanılan ilaç türleri (metformin, insülin vb.) yer alırken; sayısal özellikler arasında hastanede kalış süresi, yapılan laboratuvar test sayısı, kullanılan ilaç sayısı ve acil servis başvuru sayısı bulunmaktadır. </a:t>
            </a:r>
          </a:p>
        </p:txBody>
      </p:sp>
      <p:pic>
        <p:nvPicPr>
          <p:cNvPr id="16" name="Resim 15">
            <a:extLst>
              <a:ext uri="{FF2B5EF4-FFF2-40B4-BE49-F238E27FC236}">
                <a16:creationId xmlns:a16="http://schemas.microsoft.com/office/drawing/2014/main" id="{0C645FF8-068A-14E2-E4AE-5A1E2A654B6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79727" y="1433562"/>
            <a:ext cx="5348393" cy="3218716"/>
          </a:xfrm>
          <a:prstGeom prst="rect">
            <a:avLst/>
          </a:prstGeom>
        </p:spPr>
      </p:pic>
    </p:spTree>
    <p:extLst>
      <p:ext uri="{BB962C8B-B14F-4D97-AF65-F5344CB8AC3E}">
        <p14:creationId xmlns:p14="http://schemas.microsoft.com/office/powerpoint/2010/main" val="7477050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293842DD-F5F3-37CD-92BD-ED1182AE363F}"/>
              </a:ext>
            </a:extLst>
          </p:cNvPr>
          <p:cNvSpPr>
            <a:spLocks noGrp="1"/>
          </p:cNvSpPr>
          <p:nvPr>
            <p:ph type="title"/>
          </p:nvPr>
        </p:nvSpPr>
        <p:spPr/>
        <p:txBody>
          <a:bodyPr/>
          <a:lstStyle/>
          <a:p>
            <a:endParaRPr lang="tr-TR"/>
          </a:p>
        </p:txBody>
      </p:sp>
      <p:pic>
        <p:nvPicPr>
          <p:cNvPr id="5" name="İçerik Yer Tutucusu 4">
            <a:extLst>
              <a:ext uri="{FF2B5EF4-FFF2-40B4-BE49-F238E27FC236}">
                <a16:creationId xmlns:a16="http://schemas.microsoft.com/office/drawing/2014/main" id="{5291F806-3A81-70F6-5A32-3CCD77F79561}"/>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3989" y="0"/>
            <a:ext cx="12215989" cy="6858000"/>
          </a:xfrm>
        </p:spPr>
      </p:pic>
      <p:sp>
        <p:nvSpPr>
          <p:cNvPr id="6" name="Dikdörtgen 5">
            <a:extLst>
              <a:ext uri="{FF2B5EF4-FFF2-40B4-BE49-F238E27FC236}">
                <a16:creationId xmlns:a16="http://schemas.microsoft.com/office/drawing/2014/main" id="{44D3B2B1-9B0A-CF54-1B38-8D395DBF62F8}"/>
              </a:ext>
            </a:extLst>
          </p:cNvPr>
          <p:cNvSpPr/>
          <p:nvPr/>
        </p:nvSpPr>
        <p:spPr>
          <a:xfrm>
            <a:off x="0" y="0"/>
            <a:ext cx="12192000" cy="6858000"/>
          </a:xfrm>
          <a:prstGeom prst="rect">
            <a:avLst/>
          </a:prstGeom>
          <a:solidFill>
            <a:schemeClr val="tx1">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dirty="0"/>
          </a:p>
        </p:txBody>
      </p:sp>
      <p:sp>
        <p:nvSpPr>
          <p:cNvPr id="7" name="Metin kutusu 6">
            <a:extLst>
              <a:ext uri="{FF2B5EF4-FFF2-40B4-BE49-F238E27FC236}">
                <a16:creationId xmlns:a16="http://schemas.microsoft.com/office/drawing/2014/main" id="{537BD905-5666-75F1-56AA-38EF9037BC2B}"/>
              </a:ext>
            </a:extLst>
          </p:cNvPr>
          <p:cNvSpPr txBox="1"/>
          <p:nvPr/>
        </p:nvSpPr>
        <p:spPr>
          <a:xfrm>
            <a:off x="3330645" y="182880"/>
            <a:ext cx="5506720" cy="1200329"/>
          </a:xfrm>
          <a:prstGeom prst="rect">
            <a:avLst/>
          </a:prstGeom>
          <a:noFill/>
        </p:spPr>
        <p:txBody>
          <a:bodyPr wrap="square" rtlCol="0">
            <a:spAutoFit/>
          </a:bodyPr>
          <a:lstStyle/>
          <a:p>
            <a:r>
              <a:rPr lang="tr-TR" sz="3600" dirty="0">
                <a:solidFill>
                  <a:schemeClr val="bg1"/>
                </a:solidFill>
                <a:latin typeface="Times New Roman" panose="02020603050405020304" pitchFamily="18" charset="0"/>
                <a:cs typeface="Times New Roman" panose="02020603050405020304" pitchFamily="18" charset="0"/>
              </a:rPr>
              <a:t>VERİ SETİ AÇIKLAMASI</a:t>
            </a:r>
          </a:p>
          <a:p>
            <a:endParaRPr lang="tr-TR" sz="3600" dirty="0"/>
          </a:p>
        </p:txBody>
      </p:sp>
      <p:pic>
        <p:nvPicPr>
          <p:cNvPr id="8" name="Resim 7">
            <a:extLst>
              <a:ext uri="{FF2B5EF4-FFF2-40B4-BE49-F238E27FC236}">
                <a16:creationId xmlns:a16="http://schemas.microsoft.com/office/drawing/2014/main" id="{97A2A66A-5F17-441E-7F25-BFBFAA06A3A9}"/>
              </a:ext>
            </a:extLst>
          </p:cNvPr>
          <p:cNvPicPr>
            <a:picLocks noChangeAspect="1"/>
          </p:cNvPicPr>
          <p:nvPr/>
        </p:nvPicPr>
        <p:blipFill>
          <a:blip r:embed="rId4"/>
          <a:stretch>
            <a:fillRect/>
          </a:stretch>
        </p:blipFill>
        <p:spPr>
          <a:xfrm>
            <a:off x="7074215" y="1748334"/>
            <a:ext cx="4444369" cy="3688400"/>
          </a:xfrm>
          <a:prstGeom prst="rect">
            <a:avLst/>
          </a:prstGeom>
        </p:spPr>
      </p:pic>
      <p:sp>
        <p:nvSpPr>
          <p:cNvPr id="9" name="Metin kutusu 8">
            <a:extLst>
              <a:ext uri="{FF2B5EF4-FFF2-40B4-BE49-F238E27FC236}">
                <a16:creationId xmlns:a16="http://schemas.microsoft.com/office/drawing/2014/main" id="{3EA90E9E-1BA7-DA0E-B146-B975129FC977}"/>
              </a:ext>
            </a:extLst>
          </p:cNvPr>
          <p:cNvSpPr txBox="1"/>
          <p:nvPr/>
        </p:nvSpPr>
        <p:spPr>
          <a:xfrm>
            <a:off x="454345" y="1743415"/>
            <a:ext cx="5839775" cy="3693319"/>
          </a:xfrm>
          <a:prstGeom prst="rect">
            <a:avLst/>
          </a:prstGeom>
          <a:noFill/>
        </p:spPr>
        <p:txBody>
          <a:bodyPr wrap="square" rtlCol="0">
            <a:spAutoFit/>
          </a:bodyPr>
          <a:lstStyle/>
          <a:p>
            <a:r>
              <a:rPr lang="tr-TR" dirty="0">
                <a:solidFill>
                  <a:schemeClr val="bg1"/>
                </a:solidFill>
                <a:latin typeface="Times New Roman" panose="02020603050405020304" pitchFamily="18" charset="0"/>
                <a:cs typeface="Times New Roman" panose="02020603050405020304" pitchFamily="18" charset="0"/>
              </a:rPr>
              <a:t>Hedef değişken olan </a:t>
            </a:r>
            <a:r>
              <a:rPr lang="tr-TR" dirty="0" err="1">
                <a:solidFill>
                  <a:schemeClr val="bg1"/>
                </a:solidFill>
                <a:latin typeface="Times New Roman" panose="02020603050405020304" pitchFamily="18" charset="0"/>
                <a:cs typeface="Times New Roman" panose="02020603050405020304" pitchFamily="18" charset="0"/>
              </a:rPr>
              <a:t>readmitted</a:t>
            </a:r>
            <a:r>
              <a:rPr lang="tr-TR" dirty="0">
                <a:solidFill>
                  <a:schemeClr val="bg1"/>
                </a:solidFill>
                <a:latin typeface="Times New Roman" panose="02020603050405020304" pitchFamily="18" charset="0"/>
                <a:cs typeface="Times New Roman" panose="02020603050405020304" pitchFamily="18" charset="0"/>
              </a:rPr>
              <a:t> sütunu, “&lt;30” (30 günden kısa sürede tekrar yatış), “&gt;30” (30 günden uzun sürede tekrar yatış) ve “No” (tekrar yatış yok) olmak üzere üç sınıftan oluşan bir sınıflandırma problemidir. Ancak veri seti sınıf dağılımı açısından dengesizdir; “No” sınıfı verinin yaklaşık %54’ünü, “&gt;30” sınıfı yaklaşık %35’ini oluştururken, klinik açıdan en kritik sınıf olan “&lt;30” grubu yalnızca %11 civarındadır. Bu dengesizlik nedeniyle modelleme sürecinde azınlık sınıfının doğru tahmin edilebilmesi için SMOTE gibi dengeleme tekniklerinin kullanılması ve başarı değerlendirmesinde doğruluk yerine F1-Score ve AUC-ROC gibi metriklere odaklanılması gerekmektedir.</a:t>
            </a:r>
            <a:endParaRPr lang="tr-TR" dirty="0"/>
          </a:p>
        </p:txBody>
      </p:sp>
      <p:pic>
        <p:nvPicPr>
          <p:cNvPr id="10" name="Resim 9">
            <a:extLst>
              <a:ext uri="{FF2B5EF4-FFF2-40B4-BE49-F238E27FC236}">
                <a16:creationId xmlns:a16="http://schemas.microsoft.com/office/drawing/2014/main" id="{7FB4CAB2-F1BA-770E-631D-36DA833B4402}"/>
              </a:ext>
            </a:extLst>
          </p:cNvPr>
          <p:cNvPicPr>
            <a:picLocks noChangeAspect="1"/>
          </p:cNvPicPr>
          <p:nvPr/>
        </p:nvPicPr>
        <p:blipFill>
          <a:blip r:embed="rId5"/>
          <a:stretch>
            <a:fillRect/>
          </a:stretch>
        </p:blipFill>
        <p:spPr>
          <a:xfrm>
            <a:off x="528320" y="5955630"/>
            <a:ext cx="12192000" cy="383473"/>
          </a:xfrm>
          <a:prstGeom prst="rect">
            <a:avLst/>
          </a:prstGeom>
        </p:spPr>
      </p:pic>
    </p:spTree>
    <p:extLst>
      <p:ext uri="{BB962C8B-B14F-4D97-AF65-F5344CB8AC3E}">
        <p14:creationId xmlns:p14="http://schemas.microsoft.com/office/powerpoint/2010/main" val="17332784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A9B55560-23AC-EC4C-2DAA-CF76B886ADFB}"/>
              </a:ext>
            </a:extLst>
          </p:cNvPr>
          <p:cNvSpPr>
            <a:spLocks noGrp="1"/>
          </p:cNvSpPr>
          <p:nvPr>
            <p:ph type="title"/>
          </p:nvPr>
        </p:nvSpPr>
        <p:spPr/>
        <p:txBody>
          <a:bodyPr/>
          <a:lstStyle/>
          <a:p>
            <a:endParaRPr lang="tr-TR"/>
          </a:p>
        </p:txBody>
      </p:sp>
      <p:pic>
        <p:nvPicPr>
          <p:cNvPr id="5" name="İçerik Yer Tutucusu 4">
            <a:extLst>
              <a:ext uri="{FF2B5EF4-FFF2-40B4-BE49-F238E27FC236}">
                <a16:creationId xmlns:a16="http://schemas.microsoft.com/office/drawing/2014/main" id="{8E419A7D-2280-0D2A-8F10-EA08B2FFA88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492" y="0"/>
            <a:ext cx="12188508" cy="6858000"/>
          </a:xfrm>
        </p:spPr>
      </p:pic>
      <p:sp>
        <p:nvSpPr>
          <p:cNvPr id="6" name="Dikdörtgen 5">
            <a:extLst>
              <a:ext uri="{FF2B5EF4-FFF2-40B4-BE49-F238E27FC236}">
                <a16:creationId xmlns:a16="http://schemas.microsoft.com/office/drawing/2014/main" id="{D8807668-CBFB-E5D5-B8DF-E2010036F536}"/>
              </a:ext>
            </a:extLst>
          </p:cNvPr>
          <p:cNvSpPr/>
          <p:nvPr/>
        </p:nvSpPr>
        <p:spPr>
          <a:xfrm>
            <a:off x="0" y="0"/>
            <a:ext cx="12192000" cy="6858000"/>
          </a:xfrm>
          <a:prstGeom prst="rect">
            <a:avLst/>
          </a:prstGeom>
          <a:solidFill>
            <a:schemeClr val="tx1">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7" name="Metin kutusu 6">
            <a:extLst>
              <a:ext uri="{FF2B5EF4-FFF2-40B4-BE49-F238E27FC236}">
                <a16:creationId xmlns:a16="http://schemas.microsoft.com/office/drawing/2014/main" id="{4BC7B334-20A3-B855-25CB-5AC9313BB72D}"/>
              </a:ext>
            </a:extLst>
          </p:cNvPr>
          <p:cNvSpPr txBox="1"/>
          <p:nvPr/>
        </p:nvSpPr>
        <p:spPr>
          <a:xfrm>
            <a:off x="2174538" y="198249"/>
            <a:ext cx="8910320" cy="584775"/>
          </a:xfrm>
          <a:prstGeom prst="rect">
            <a:avLst/>
          </a:prstGeom>
          <a:noFill/>
        </p:spPr>
        <p:txBody>
          <a:bodyPr wrap="square" rtlCol="0">
            <a:spAutoFit/>
          </a:bodyPr>
          <a:lstStyle/>
          <a:p>
            <a:r>
              <a:rPr lang="tr-TR" sz="3200" dirty="0">
                <a:solidFill>
                  <a:schemeClr val="bg1"/>
                </a:solidFill>
                <a:latin typeface="Times New Roman" panose="02020603050405020304" pitchFamily="18" charset="0"/>
                <a:cs typeface="Times New Roman" panose="02020603050405020304" pitchFamily="18" charset="0"/>
              </a:rPr>
              <a:t>TEMEL FİKİR VE TASARIM KARARLARI</a:t>
            </a:r>
          </a:p>
        </p:txBody>
      </p:sp>
      <p:sp>
        <p:nvSpPr>
          <p:cNvPr id="8" name="Metin kutusu 7">
            <a:extLst>
              <a:ext uri="{FF2B5EF4-FFF2-40B4-BE49-F238E27FC236}">
                <a16:creationId xmlns:a16="http://schemas.microsoft.com/office/drawing/2014/main" id="{F8F82685-4BD1-EDC9-293E-5626EB4B5576}"/>
              </a:ext>
            </a:extLst>
          </p:cNvPr>
          <p:cNvSpPr txBox="1"/>
          <p:nvPr/>
        </p:nvSpPr>
        <p:spPr>
          <a:xfrm>
            <a:off x="304800" y="1086869"/>
            <a:ext cx="5415280" cy="5355312"/>
          </a:xfrm>
          <a:prstGeom prst="rect">
            <a:avLst/>
          </a:prstGeom>
          <a:noFill/>
        </p:spPr>
        <p:txBody>
          <a:bodyPr wrap="square" rtlCol="0">
            <a:spAutoFit/>
          </a:bodyPr>
          <a:lstStyle/>
          <a:p>
            <a:r>
              <a:rPr lang="tr-TR" dirty="0">
                <a:solidFill>
                  <a:schemeClr val="bg1"/>
                </a:solidFill>
              </a:rPr>
              <a:t>Projenin temel fikri, diyabet hastalarının taburcu sonrası ilk 30 gündeki yeniden yatış risklerini tahmin ederek sağlık hizmetlerinde </a:t>
            </a:r>
            <a:r>
              <a:rPr lang="tr-TR" dirty="0" err="1">
                <a:solidFill>
                  <a:schemeClr val="bg1"/>
                </a:solidFill>
              </a:rPr>
              <a:t>proaktif</a:t>
            </a:r>
            <a:r>
              <a:rPr lang="tr-TR" dirty="0">
                <a:solidFill>
                  <a:schemeClr val="bg1"/>
                </a:solidFill>
              </a:rPr>
              <a:t> bir karar destek mekanizması oluşturmaktır. Tasarım sürecinde alınan en stratejik karar, problemi sadece istatistiksel bir tahmin değil, klinik önceliği olan bir ikili sınıflandırma yapısı olarak kurgulamaktır. Model başarısını değerlendirirken genel doğruluğun (</a:t>
            </a:r>
            <a:r>
              <a:rPr lang="tr-TR" dirty="0" err="1">
                <a:solidFill>
                  <a:schemeClr val="bg1"/>
                </a:solidFill>
              </a:rPr>
              <a:t>Accuracy</a:t>
            </a:r>
            <a:r>
              <a:rPr lang="tr-TR" dirty="0">
                <a:solidFill>
                  <a:schemeClr val="bg1"/>
                </a:solidFill>
              </a:rPr>
              <a:t>) yanı sıra, sağlık alanındaki kritik hata payını minimize etmek adına </a:t>
            </a:r>
            <a:r>
              <a:rPr lang="tr-TR" b="1" dirty="0">
                <a:solidFill>
                  <a:schemeClr val="bg1"/>
                </a:solidFill>
              </a:rPr>
              <a:t>Duyarlılık (</a:t>
            </a:r>
            <a:r>
              <a:rPr lang="tr-TR" b="1" dirty="0" err="1">
                <a:solidFill>
                  <a:schemeClr val="bg1"/>
                </a:solidFill>
              </a:rPr>
              <a:t>Recall</a:t>
            </a:r>
            <a:r>
              <a:rPr lang="tr-TR" b="1" dirty="0">
                <a:solidFill>
                  <a:schemeClr val="bg1"/>
                </a:solidFill>
              </a:rPr>
              <a:t>)</a:t>
            </a:r>
            <a:r>
              <a:rPr lang="tr-TR" dirty="0">
                <a:solidFill>
                  <a:schemeClr val="bg1"/>
                </a:solidFill>
              </a:rPr>
              <a:t> ve </a:t>
            </a:r>
            <a:r>
              <a:rPr lang="tr-TR" b="1" dirty="0">
                <a:solidFill>
                  <a:schemeClr val="bg1"/>
                </a:solidFill>
              </a:rPr>
              <a:t>F1-Skoru</a:t>
            </a:r>
            <a:r>
              <a:rPr lang="tr-TR" dirty="0">
                <a:solidFill>
                  <a:schemeClr val="bg1"/>
                </a:solidFill>
              </a:rPr>
              <a:t> metriklerine öncelik verilmiştir. Bu tercih, özellikle "yüksek riskli" hastaların yanlışlıkla düşük riskli olarak sınıflandırılmasını (Yanlış Negatifleri) en aza indirmeyi ve klinik açıdan güvenilir bir model geliştirmeyi projenin ana odağına yerleştirmiştir. Ayrıca, veri setindeki sınıflar arası sayısal dengesizliği aşmak için benimsenen "Sınıf </a:t>
            </a:r>
            <a:r>
              <a:rPr lang="tr-TR" dirty="0" err="1">
                <a:solidFill>
                  <a:schemeClr val="bg1"/>
                </a:solidFill>
              </a:rPr>
              <a:t>Ağırlıklandırma</a:t>
            </a:r>
            <a:r>
              <a:rPr lang="tr-TR" dirty="0">
                <a:solidFill>
                  <a:schemeClr val="bg1"/>
                </a:solidFill>
              </a:rPr>
              <a:t>" stratejisi, modelin sadece çoğunluk grubunu değil, nadir fakat kritik olan riskli vakaları tespit etme kabiliyetini artırmak amacıyla bir temel tasarım standardı olarak belirlenmiştir.</a:t>
            </a:r>
            <a:endParaRPr lang="tr-TR" dirty="0">
              <a:solidFill>
                <a:schemeClr val="bg1"/>
              </a:solidFill>
              <a:latin typeface="Times New Roman" panose="02020603050405020304" pitchFamily="18" charset="0"/>
              <a:cs typeface="Times New Roman" panose="02020603050405020304" pitchFamily="18" charset="0"/>
            </a:endParaRPr>
          </a:p>
        </p:txBody>
      </p:sp>
      <p:pic>
        <p:nvPicPr>
          <p:cNvPr id="10" name="Resim 9">
            <a:extLst>
              <a:ext uri="{FF2B5EF4-FFF2-40B4-BE49-F238E27FC236}">
                <a16:creationId xmlns:a16="http://schemas.microsoft.com/office/drawing/2014/main" id="{D2F5585C-9EEB-EC87-649F-C9BC2CA5649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56000" y="1566048"/>
            <a:ext cx="6200080" cy="3575129"/>
          </a:xfrm>
          <a:prstGeom prst="rect">
            <a:avLst/>
          </a:prstGeom>
        </p:spPr>
      </p:pic>
    </p:spTree>
    <p:extLst>
      <p:ext uri="{BB962C8B-B14F-4D97-AF65-F5344CB8AC3E}">
        <p14:creationId xmlns:p14="http://schemas.microsoft.com/office/powerpoint/2010/main" val="30963599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FADA8A33-BC1C-4FAC-AAC1-FAE8CD48250F}"/>
              </a:ext>
            </a:extLst>
          </p:cNvPr>
          <p:cNvSpPr>
            <a:spLocks noGrp="1"/>
          </p:cNvSpPr>
          <p:nvPr>
            <p:ph type="title"/>
          </p:nvPr>
        </p:nvSpPr>
        <p:spPr/>
        <p:txBody>
          <a:bodyPr/>
          <a:lstStyle/>
          <a:p>
            <a:endParaRPr lang="tr-TR"/>
          </a:p>
        </p:txBody>
      </p:sp>
      <p:pic>
        <p:nvPicPr>
          <p:cNvPr id="13" name="İçerik Yer Tutucusu 12">
            <a:extLst>
              <a:ext uri="{FF2B5EF4-FFF2-40B4-BE49-F238E27FC236}">
                <a16:creationId xmlns:a16="http://schemas.microsoft.com/office/drawing/2014/main" id="{0147206E-E81A-EFC8-7ED6-BD2ACD0BF66E}"/>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0" y="0"/>
            <a:ext cx="12192000" cy="6858000"/>
          </a:xfrm>
        </p:spPr>
      </p:pic>
      <p:sp>
        <p:nvSpPr>
          <p:cNvPr id="14" name="Dikdörtgen 13">
            <a:extLst>
              <a:ext uri="{FF2B5EF4-FFF2-40B4-BE49-F238E27FC236}">
                <a16:creationId xmlns:a16="http://schemas.microsoft.com/office/drawing/2014/main" id="{93C9D4D5-5647-6D8C-747C-2EC910FF0020}"/>
              </a:ext>
            </a:extLst>
          </p:cNvPr>
          <p:cNvSpPr/>
          <p:nvPr/>
        </p:nvSpPr>
        <p:spPr>
          <a:xfrm>
            <a:off x="0" y="0"/>
            <a:ext cx="12192000" cy="6858000"/>
          </a:xfrm>
          <a:prstGeom prst="rect">
            <a:avLst/>
          </a:prstGeom>
          <a:solidFill>
            <a:schemeClr val="tx1">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5" name="Metin kutusu 14">
            <a:extLst>
              <a:ext uri="{FF2B5EF4-FFF2-40B4-BE49-F238E27FC236}">
                <a16:creationId xmlns:a16="http://schemas.microsoft.com/office/drawing/2014/main" id="{6C934F37-EF0B-0F94-5F9C-DD9BA5406F86}"/>
              </a:ext>
            </a:extLst>
          </p:cNvPr>
          <p:cNvSpPr txBox="1"/>
          <p:nvPr/>
        </p:nvSpPr>
        <p:spPr>
          <a:xfrm>
            <a:off x="1000760" y="264121"/>
            <a:ext cx="10190480" cy="954107"/>
          </a:xfrm>
          <a:prstGeom prst="rect">
            <a:avLst/>
          </a:prstGeom>
          <a:noFill/>
        </p:spPr>
        <p:txBody>
          <a:bodyPr wrap="square" rtlCol="0">
            <a:spAutoFit/>
          </a:bodyPr>
          <a:lstStyle/>
          <a:p>
            <a:pPr algn="ctr"/>
            <a:r>
              <a:rPr lang="tr-TR" sz="2800" dirty="0">
                <a:solidFill>
                  <a:schemeClr val="bg1"/>
                </a:solidFill>
                <a:latin typeface="Times New Roman" panose="02020603050405020304" pitchFamily="18" charset="0"/>
                <a:cs typeface="Times New Roman" panose="02020603050405020304" pitchFamily="18" charset="0"/>
              </a:rPr>
              <a:t>TEMEL FEATURE ENGİNEERİNG VE FEATURE EXTRACTION TEKNİKLERİ </a:t>
            </a:r>
          </a:p>
        </p:txBody>
      </p:sp>
      <p:sp>
        <p:nvSpPr>
          <p:cNvPr id="17" name="Metin kutusu 16">
            <a:extLst>
              <a:ext uri="{FF2B5EF4-FFF2-40B4-BE49-F238E27FC236}">
                <a16:creationId xmlns:a16="http://schemas.microsoft.com/office/drawing/2014/main" id="{A6A48AEB-09DB-5394-9BE5-EF8719A05AC7}"/>
              </a:ext>
            </a:extLst>
          </p:cNvPr>
          <p:cNvSpPr txBox="1"/>
          <p:nvPr/>
        </p:nvSpPr>
        <p:spPr>
          <a:xfrm>
            <a:off x="680720" y="1218228"/>
            <a:ext cx="7030720" cy="4937760"/>
          </a:xfrm>
          <a:prstGeom prst="rect">
            <a:avLst/>
          </a:prstGeom>
          <a:noFill/>
        </p:spPr>
        <p:txBody>
          <a:bodyPr wrap="square" rtlCol="0">
            <a:spAutoFit/>
          </a:bodyPr>
          <a:lstStyle/>
          <a:p>
            <a:endParaRPr lang="tr-TR" dirty="0"/>
          </a:p>
        </p:txBody>
      </p:sp>
      <p:sp>
        <p:nvSpPr>
          <p:cNvPr id="18" name="Metin kutusu 17">
            <a:extLst>
              <a:ext uri="{FF2B5EF4-FFF2-40B4-BE49-F238E27FC236}">
                <a16:creationId xmlns:a16="http://schemas.microsoft.com/office/drawing/2014/main" id="{E526D7F4-0C86-01B5-D3EF-CD7032DA7882}"/>
              </a:ext>
            </a:extLst>
          </p:cNvPr>
          <p:cNvSpPr txBox="1"/>
          <p:nvPr/>
        </p:nvSpPr>
        <p:spPr>
          <a:xfrm>
            <a:off x="447040" y="1778000"/>
            <a:ext cx="6390640" cy="4622800"/>
          </a:xfrm>
          <a:prstGeom prst="rect">
            <a:avLst/>
          </a:prstGeom>
          <a:noFill/>
        </p:spPr>
        <p:txBody>
          <a:bodyPr wrap="square" rtlCol="0">
            <a:spAutoFit/>
          </a:bodyPr>
          <a:lstStyle/>
          <a:p>
            <a:endParaRPr lang="tr-TR" dirty="0"/>
          </a:p>
        </p:txBody>
      </p:sp>
      <p:sp>
        <p:nvSpPr>
          <p:cNvPr id="19" name="Metin kutusu 18">
            <a:extLst>
              <a:ext uri="{FF2B5EF4-FFF2-40B4-BE49-F238E27FC236}">
                <a16:creationId xmlns:a16="http://schemas.microsoft.com/office/drawing/2014/main" id="{C5E3A19F-4D47-93BE-FFB8-63D64B91F2AF}"/>
              </a:ext>
            </a:extLst>
          </p:cNvPr>
          <p:cNvSpPr txBox="1"/>
          <p:nvPr/>
        </p:nvSpPr>
        <p:spPr>
          <a:xfrm>
            <a:off x="274955" y="1490342"/>
            <a:ext cx="6228080" cy="4524315"/>
          </a:xfrm>
          <a:prstGeom prst="rect">
            <a:avLst/>
          </a:prstGeom>
          <a:noFill/>
        </p:spPr>
        <p:txBody>
          <a:bodyPr wrap="square" rtlCol="0">
            <a:spAutoFit/>
          </a:bodyPr>
          <a:lstStyle/>
          <a:p>
            <a:r>
              <a:rPr lang="tr-TR" dirty="0">
                <a:solidFill>
                  <a:schemeClr val="bg1"/>
                </a:solidFill>
                <a:latin typeface="Times New Roman" panose="02020603050405020304" pitchFamily="18" charset="0"/>
                <a:cs typeface="Times New Roman" panose="02020603050405020304" pitchFamily="18" charset="0"/>
              </a:rPr>
              <a:t>Proje sürecinde veri kalitesini ve modelin ayırt edici gücünü artırmak amacıyla kapsamlı bir veri mühendisliği stratejisi izlenmiştir. İlk olarak, </a:t>
            </a:r>
            <a:r>
              <a:rPr lang="tr-TR" dirty="0" err="1">
                <a:solidFill>
                  <a:schemeClr val="bg1"/>
                </a:solidFill>
                <a:latin typeface="Times New Roman" panose="02020603050405020304" pitchFamily="18" charset="0"/>
                <a:cs typeface="Times New Roman" panose="02020603050405020304" pitchFamily="18" charset="0"/>
              </a:rPr>
              <a:t>readmitted</a:t>
            </a:r>
            <a:r>
              <a:rPr lang="tr-TR" dirty="0">
                <a:solidFill>
                  <a:schemeClr val="bg1"/>
                </a:solidFill>
                <a:latin typeface="Times New Roman" panose="02020603050405020304" pitchFamily="18" charset="0"/>
                <a:cs typeface="Times New Roman" panose="02020603050405020304" pitchFamily="18" charset="0"/>
              </a:rPr>
              <a:t> değişkeni 30 gün kriterine göre yeniden yapılandırılarak "Yüksek Risk" (1) ve "Düşük Risk" (0) olarak etiketlenmiş; binlerce karmaşık ICD-9 tanı kodu ise klinik olarak anlamlı 9 temel kategoriye indirgenerek verideki gürültü temizlenmiştir. Eksik veriler ve hatalı "0" değerleri, veri dağılımını korumak adına hedef değişkene göre medyan değerleriyle tamamlanmıştır. Kategorik değişkenler </a:t>
            </a:r>
            <a:r>
              <a:rPr lang="tr-TR" dirty="0" err="1">
                <a:solidFill>
                  <a:schemeClr val="bg1"/>
                </a:solidFill>
                <a:latin typeface="Times New Roman" panose="02020603050405020304" pitchFamily="18" charset="0"/>
                <a:cs typeface="Times New Roman" panose="02020603050405020304" pitchFamily="18" charset="0"/>
              </a:rPr>
              <a:t>One</a:t>
            </a:r>
            <a:r>
              <a:rPr lang="tr-TR" dirty="0">
                <a:solidFill>
                  <a:schemeClr val="bg1"/>
                </a:solidFill>
                <a:latin typeface="Times New Roman" panose="02020603050405020304" pitchFamily="18" charset="0"/>
                <a:cs typeface="Times New Roman" panose="02020603050405020304" pitchFamily="18" charset="0"/>
              </a:rPr>
              <a:t>-Hot </a:t>
            </a:r>
            <a:r>
              <a:rPr lang="tr-TR" dirty="0" err="1">
                <a:solidFill>
                  <a:schemeClr val="bg1"/>
                </a:solidFill>
                <a:latin typeface="Times New Roman" panose="02020603050405020304" pitchFamily="18" charset="0"/>
                <a:cs typeface="Times New Roman" panose="02020603050405020304" pitchFamily="18" charset="0"/>
              </a:rPr>
              <a:t>Encoding</a:t>
            </a:r>
            <a:r>
              <a:rPr lang="tr-TR" dirty="0">
                <a:solidFill>
                  <a:schemeClr val="bg1"/>
                </a:solidFill>
                <a:latin typeface="Times New Roman" panose="02020603050405020304" pitchFamily="18" charset="0"/>
                <a:cs typeface="Times New Roman" panose="02020603050405020304" pitchFamily="18" charset="0"/>
              </a:rPr>
              <a:t> yöntemiyle sayısal vektörlere dönüştürülürken, sayısal özellikler aykırı değerlerin etkisini minimize eden </a:t>
            </a:r>
            <a:r>
              <a:rPr lang="tr-TR" dirty="0" err="1">
                <a:solidFill>
                  <a:schemeClr val="bg1"/>
                </a:solidFill>
                <a:latin typeface="Times New Roman" panose="02020603050405020304" pitchFamily="18" charset="0"/>
                <a:cs typeface="Times New Roman" panose="02020603050405020304" pitchFamily="18" charset="0"/>
              </a:rPr>
              <a:t>RobustScaler</a:t>
            </a:r>
            <a:r>
              <a:rPr lang="tr-TR" dirty="0">
                <a:solidFill>
                  <a:schemeClr val="bg1"/>
                </a:solidFill>
                <a:latin typeface="Times New Roman" panose="02020603050405020304" pitchFamily="18" charset="0"/>
                <a:cs typeface="Times New Roman" panose="02020603050405020304" pitchFamily="18" charset="0"/>
              </a:rPr>
              <a:t> ile ölçeklendirilmiştir. Son olarak, veri setindeki belirgin sınıf dengesizliği, azınlıkta kalan riskli gruba 4.48 gibi yüksek bir ağırlık atayan stratejik sınıf </a:t>
            </a:r>
            <a:r>
              <a:rPr lang="tr-TR" dirty="0" err="1">
                <a:solidFill>
                  <a:schemeClr val="bg1"/>
                </a:solidFill>
                <a:latin typeface="Times New Roman" panose="02020603050405020304" pitchFamily="18" charset="0"/>
                <a:cs typeface="Times New Roman" panose="02020603050405020304" pitchFamily="18" charset="0"/>
              </a:rPr>
              <a:t>ağırlıklandırma</a:t>
            </a:r>
            <a:r>
              <a:rPr lang="tr-TR" dirty="0">
                <a:solidFill>
                  <a:schemeClr val="bg1"/>
                </a:solidFill>
                <a:latin typeface="Times New Roman" panose="02020603050405020304" pitchFamily="18" charset="0"/>
                <a:cs typeface="Times New Roman" panose="02020603050405020304" pitchFamily="18" charset="0"/>
              </a:rPr>
              <a:t> (Class </a:t>
            </a:r>
            <a:r>
              <a:rPr lang="tr-TR" dirty="0" err="1">
                <a:solidFill>
                  <a:schemeClr val="bg1"/>
                </a:solidFill>
                <a:latin typeface="Times New Roman" panose="02020603050405020304" pitchFamily="18" charset="0"/>
                <a:cs typeface="Times New Roman" panose="02020603050405020304" pitchFamily="18" charset="0"/>
              </a:rPr>
              <a:t>Weighting</a:t>
            </a:r>
            <a:r>
              <a:rPr lang="tr-TR" dirty="0">
                <a:solidFill>
                  <a:schemeClr val="bg1"/>
                </a:solidFill>
                <a:latin typeface="Times New Roman" panose="02020603050405020304" pitchFamily="18" charset="0"/>
                <a:cs typeface="Times New Roman" panose="02020603050405020304" pitchFamily="18" charset="0"/>
              </a:rPr>
              <a:t>) tekniğiyle giderilerek, modelin kritik vakaları tespit etme hassasiyeti en üst düzeye çıkarılmıştır.</a:t>
            </a:r>
          </a:p>
        </p:txBody>
      </p:sp>
      <p:pic>
        <p:nvPicPr>
          <p:cNvPr id="21" name="Resim 20">
            <a:extLst>
              <a:ext uri="{FF2B5EF4-FFF2-40B4-BE49-F238E27FC236}">
                <a16:creationId xmlns:a16="http://schemas.microsoft.com/office/drawing/2014/main" id="{20BF5207-C197-D3ED-CA66-70AAF3A5E3D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837680" y="2147579"/>
            <a:ext cx="5019675" cy="2562841"/>
          </a:xfrm>
          <a:prstGeom prst="rect">
            <a:avLst/>
          </a:prstGeom>
        </p:spPr>
      </p:pic>
    </p:spTree>
    <p:extLst>
      <p:ext uri="{BB962C8B-B14F-4D97-AF65-F5344CB8AC3E}">
        <p14:creationId xmlns:p14="http://schemas.microsoft.com/office/powerpoint/2010/main" val="21969719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AD6478E1-8FF8-2759-4608-F8751CAA8361}"/>
              </a:ext>
            </a:extLst>
          </p:cNvPr>
          <p:cNvSpPr>
            <a:spLocks noGrp="1"/>
          </p:cNvSpPr>
          <p:nvPr>
            <p:ph type="title"/>
          </p:nvPr>
        </p:nvSpPr>
        <p:spPr/>
        <p:txBody>
          <a:bodyPr/>
          <a:lstStyle/>
          <a:p>
            <a:endParaRPr lang="tr-TR"/>
          </a:p>
        </p:txBody>
      </p:sp>
      <p:pic>
        <p:nvPicPr>
          <p:cNvPr id="5" name="İçerik Yer Tutucusu 4">
            <a:extLst>
              <a:ext uri="{FF2B5EF4-FFF2-40B4-BE49-F238E27FC236}">
                <a16:creationId xmlns:a16="http://schemas.microsoft.com/office/drawing/2014/main" id="{41E2E7FC-3F80-A3EA-92D0-FAC7DEF29BC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0"/>
            <a:ext cx="12192000" cy="6858000"/>
          </a:xfrm>
        </p:spPr>
      </p:pic>
      <p:sp>
        <p:nvSpPr>
          <p:cNvPr id="6" name="Dikdörtgen 5">
            <a:extLst>
              <a:ext uri="{FF2B5EF4-FFF2-40B4-BE49-F238E27FC236}">
                <a16:creationId xmlns:a16="http://schemas.microsoft.com/office/drawing/2014/main" id="{9913D2F8-FA0D-D602-8DAC-5D3B3093A060}"/>
              </a:ext>
            </a:extLst>
          </p:cNvPr>
          <p:cNvSpPr/>
          <p:nvPr/>
        </p:nvSpPr>
        <p:spPr>
          <a:xfrm>
            <a:off x="0" y="0"/>
            <a:ext cx="12192000" cy="6858000"/>
          </a:xfrm>
          <a:prstGeom prst="rect">
            <a:avLst/>
          </a:prstGeom>
          <a:solidFill>
            <a:schemeClr val="tx1">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8" name="Metin kutusu 7">
            <a:extLst>
              <a:ext uri="{FF2B5EF4-FFF2-40B4-BE49-F238E27FC236}">
                <a16:creationId xmlns:a16="http://schemas.microsoft.com/office/drawing/2014/main" id="{4C5BC9CF-BD79-B755-9441-E46C106A62E8}"/>
              </a:ext>
            </a:extLst>
          </p:cNvPr>
          <p:cNvSpPr txBox="1"/>
          <p:nvPr/>
        </p:nvSpPr>
        <p:spPr>
          <a:xfrm>
            <a:off x="538480" y="365125"/>
            <a:ext cx="10815320" cy="523220"/>
          </a:xfrm>
          <a:prstGeom prst="rect">
            <a:avLst/>
          </a:prstGeom>
          <a:noFill/>
        </p:spPr>
        <p:txBody>
          <a:bodyPr wrap="square" rtlCol="0">
            <a:spAutoFit/>
          </a:bodyPr>
          <a:lstStyle/>
          <a:p>
            <a:pPr algn="ctr"/>
            <a:r>
              <a:rPr lang="tr-TR" sz="2800" dirty="0">
                <a:solidFill>
                  <a:schemeClr val="bg1"/>
                </a:solidFill>
                <a:latin typeface="Times New Roman" panose="02020603050405020304" pitchFamily="18" charset="0"/>
                <a:cs typeface="Times New Roman" panose="02020603050405020304" pitchFamily="18" charset="0"/>
              </a:rPr>
              <a:t>BEST MODEL</a:t>
            </a:r>
            <a:endParaRPr lang="tr-TR" sz="2800" dirty="0"/>
          </a:p>
        </p:txBody>
      </p:sp>
      <p:sp>
        <p:nvSpPr>
          <p:cNvPr id="3" name="Metin kutusu 2">
            <a:extLst>
              <a:ext uri="{FF2B5EF4-FFF2-40B4-BE49-F238E27FC236}">
                <a16:creationId xmlns:a16="http://schemas.microsoft.com/office/drawing/2014/main" id="{FB69F615-0F45-3399-CD2B-4C279DBBF58E}"/>
              </a:ext>
            </a:extLst>
          </p:cNvPr>
          <p:cNvSpPr txBox="1"/>
          <p:nvPr/>
        </p:nvSpPr>
        <p:spPr>
          <a:xfrm>
            <a:off x="246204" y="1027906"/>
            <a:ext cx="6881566" cy="5324535"/>
          </a:xfrm>
          <a:prstGeom prst="rect">
            <a:avLst/>
          </a:prstGeom>
          <a:noFill/>
        </p:spPr>
        <p:txBody>
          <a:bodyPr wrap="square" rtlCol="0">
            <a:spAutoFit/>
          </a:bodyPr>
          <a:lstStyle/>
          <a:p>
            <a:r>
              <a:rPr lang="tr-TR" sz="2000" dirty="0">
                <a:solidFill>
                  <a:schemeClr val="bg1"/>
                </a:solidFill>
                <a:latin typeface="Times New Roman" panose="02020603050405020304" pitchFamily="18" charset="0"/>
                <a:cs typeface="Times New Roman" panose="02020603050405020304" pitchFamily="18" charset="0"/>
              </a:rPr>
              <a:t>Model Geliştirme Yaklaşımları: Veri setindeki biyolojik olarak hatalı "0" değerleri, hedef değişkene göre gruplandırılarak medyan ile doldurulmuş ve aykırı değerler temizlenerek veri kalitesi artırılmıştır. Veriler, uç değerlere duyarlı olan </a:t>
            </a:r>
            <a:r>
              <a:rPr lang="tr-TR" sz="2000" dirty="0" err="1">
                <a:solidFill>
                  <a:schemeClr val="bg1"/>
                </a:solidFill>
                <a:latin typeface="Times New Roman" panose="02020603050405020304" pitchFamily="18" charset="0"/>
                <a:cs typeface="Times New Roman" panose="02020603050405020304" pitchFamily="18" charset="0"/>
              </a:rPr>
              <a:t>RobustScaler</a:t>
            </a:r>
            <a:r>
              <a:rPr lang="tr-TR" sz="2000" dirty="0">
                <a:solidFill>
                  <a:schemeClr val="bg1"/>
                </a:solidFill>
                <a:latin typeface="Times New Roman" panose="02020603050405020304" pitchFamily="18" charset="0"/>
                <a:cs typeface="Times New Roman" panose="02020603050405020304" pitchFamily="18" charset="0"/>
              </a:rPr>
              <a:t> ile ölçeklendirilmiş; modelin genelleme yeteneği ise 10-Katlı Çapraz Doğrulama (10-Fold CV) yöntemiyle </a:t>
            </a:r>
            <a:r>
              <a:rPr lang="tr-TR" sz="2000" dirty="0" err="1">
                <a:solidFill>
                  <a:schemeClr val="bg1"/>
                </a:solidFill>
                <a:latin typeface="Times New Roman" panose="02020603050405020304" pitchFamily="18" charset="0"/>
                <a:cs typeface="Times New Roman" panose="02020603050405020304" pitchFamily="18" charset="0"/>
              </a:rPr>
              <a:t>doğrulanmıştır.Hiperparametre</a:t>
            </a:r>
            <a:r>
              <a:rPr lang="tr-TR" sz="2000" dirty="0">
                <a:solidFill>
                  <a:schemeClr val="bg1"/>
                </a:solidFill>
                <a:latin typeface="Times New Roman" panose="02020603050405020304" pitchFamily="18" charset="0"/>
                <a:cs typeface="Times New Roman" panose="02020603050405020304" pitchFamily="18" charset="0"/>
              </a:rPr>
              <a:t> Optimizasyonu: Model performansını maksimize etmek için </a:t>
            </a:r>
            <a:r>
              <a:rPr lang="tr-TR" sz="2000" dirty="0" err="1">
                <a:solidFill>
                  <a:schemeClr val="bg1"/>
                </a:solidFill>
                <a:latin typeface="Times New Roman" panose="02020603050405020304" pitchFamily="18" charset="0"/>
                <a:cs typeface="Times New Roman" panose="02020603050405020304" pitchFamily="18" charset="0"/>
              </a:rPr>
              <a:t>GridSearchCV</a:t>
            </a:r>
            <a:r>
              <a:rPr lang="tr-TR" sz="2000" dirty="0">
                <a:solidFill>
                  <a:schemeClr val="bg1"/>
                </a:solidFill>
                <a:latin typeface="Times New Roman" panose="02020603050405020304" pitchFamily="18" charset="0"/>
                <a:cs typeface="Times New Roman" panose="02020603050405020304" pitchFamily="18" charset="0"/>
              </a:rPr>
              <a:t> tekniği kullanılarak sistematik parametre taraması yapılmıştır. Bu süreçte, modelin hesaplama kararlılığını sağlayan ve verinin varyansını dengeleyen "</a:t>
            </a:r>
            <a:r>
              <a:rPr lang="tr-TR" sz="2000" dirty="0" err="1">
                <a:solidFill>
                  <a:schemeClr val="bg1"/>
                </a:solidFill>
                <a:latin typeface="Times New Roman" panose="02020603050405020304" pitchFamily="18" charset="0"/>
                <a:cs typeface="Times New Roman" panose="02020603050405020304" pitchFamily="18" charset="0"/>
              </a:rPr>
              <a:t>var_smoothing</a:t>
            </a:r>
            <a:r>
              <a:rPr lang="tr-TR" sz="2000" dirty="0">
                <a:solidFill>
                  <a:schemeClr val="bg1"/>
                </a:solidFill>
                <a:latin typeface="Times New Roman" panose="02020603050405020304" pitchFamily="18" charset="0"/>
                <a:cs typeface="Times New Roman" panose="02020603050405020304" pitchFamily="18" charset="0"/>
              </a:rPr>
              <a:t>" parametresi optimize edilerek, olasılık temelli tahmin gücü en üst seviyeye </a:t>
            </a:r>
            <a:r>
              <a:rPr lang="tr-TR" sz="2000" dirty="0" err="1">
                <a:solidFill>
                  <a:schemeClr val="bg1"/>
                </a:solidFill>
                <a:latin typeface="Times New Roman" panose="02020603050405020304" pitchFamily="18" charset="0"/>
                <a:cs typeface="Times New Roman" panose="02020603050405020304" pitchFamily="18" charset="0"/>
              </a:rPr>
              <a:t>çıkarılmıştır.Kullanılan</a:t>
            </a:r>
            <a:r>
              <a:rPr lang="tr-TR" sz="2000" dirty="0">
                <a:solidFill>
                  <a:schemeClr val="bg1"/>
                </a:solidFill>
                <a:latin typeface="Times New Roman" panose="02020603050405020304" pitchFamily="18" charset="0"/>
                <a:cs typeface="Times New Roman" panose="02020603050405020304" pitchFamily="18" charset="0"/>
              </a:rPr>
              <a:t> Özellik Seti (</a:t>
            </a:r>
            <a:r>
              <a:rPr lang="tr-TR" sz="2000" dirty="0" err="1">
                <a:solidFill>
                  <a:schemeClr val="bg1"/>
                </a:solidFill>
                <a:latin typeface="Times New Roman" panose="02020603050405020304" pitchFamily="18" charset="0"/>
                <a:cs typeface="Times New Roman" panose="02020603050405020304" pitchFamily="18" charset="0"/>
              </a:rPr>
              <a:t>Feature</a:t>
            </a:r>
            <a:r>
              <a:rPr lang="tr-TR" sz="2000" dirty="0">
                <a:solidFill>
                  <a:schemeClr val="bg1"/>
                </a:solidFill>
                <a:latin typeface="Times New Roman" panose="02020603050405020304" pitchFamily="18" charset="0"/>
                <a:cs typeface="Times New Roman" panose="02020603050405020304" pitchFamily="18" charset="0"/>
              </a:rPr>
              <a:t> Set): Tahminleme süreci, diyabet teşhisinde kritik öneme sahip 8 temel değişken üzerine </a:t>
            </a:r>
            <a:r>
              <a:rPr lang="tr-TR" sz="2000" dirty="0" err="1">
                <a:solidFill>
                  <a:schemeClr val="bg1"/>
                </a:solidFill>
                <a:latin typeface="Times New Roman" panose="02020603050405020304" pitchFamily="18" charset="0"/>
                <a:cs typeface="Times New Roman" panose="02020603050405020304" pitchFamily="18" charset="0"/>
              </a:rPr>
              <a:t>kurulmuştur:Klinik</a:t>
            </a:r>
            <a:r>
              <a:rPr lang="tr-TR" sz="2000" dirty="0">
                <a:solidFill>
                  <a:schemeClr val="bg1"/>
                </a:solidFill>
                <a:latin typeface="Times New Roman" panose="02020603050405020304" pitchFamily="18" charset="0"/>
                <a:cs typeface="Times New Roman" panose="02020603050405020304" pitchFamily="18" charset="0"/>
              </a:rPr>
              <a:t> Veriler: Glikoz, İnsülin, Kan Basıncı, Vücut Kitle İndeksi (BMI), Cilt </a:t>
            </a:r>
            <a:r>
              <a:rPr lang="tr-TR" sz="2000" dirty="0" err="1">
                <a:solidFill>
                  <a:schemeClr val="bg1"/>
                </a:solidFill>
                <a:latin typeface="Times New Roman" panose="02020603050405020304" pitchFamily="18" charset="0"/>
                <a:cs typeface="Times New Roman" panose="02020603050405020304" pitchFamily="18" charset="0"/>
              </a:rPr>
              <a:t>Kalınlığı.Demografik</a:t>
            </a:r>
            <a:r>
              <a:rPr lang="tr-TR" sz="2000" dirty="0">
                <a:solidFill>
                  <a:schemeClr val="bg1"/>
                </a:solidFill>
                <a:latin typeface="Times New Roman" panose="02020603050405020304" pitchFamily="18" charset="0"/>
                <a:cs typeface="Times New Roman" panose="02020603050405020304" pitchFamily="18" charset="0"/>
              </a:rPr>
              <a:t> ve Genetik: Yaş, Hamilelik Sayısı, Diyabet Soyağacı Fonksiyonu.</a:t>
            </a:r>
          </a:p>
        </p:txBody>
      </p:sp>
      <p:pic>
        <p:nvPicPr>
          <p:cNvPr id="7" name="Resim 6">
            <a:extLst>
              <a:ext uri="{FF2B5EF4-FFF2-40B4-BE49-F238E27FC236}">
                <a16:creationId xmlns:a16="http://schemas.microsoft.com/office/drawing/2014/main" id="{669C6C5D-67A4-9444-E6CF-9E34D6E2777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65506" y="1376314"/>
            <a:ext cx="4507326" cy="4572231"/>
          </a:xfrm>
          <a:prstGeom prst="rect">
            <a:avLst/>
          </a:prstGeom>
        </p:spPr>
      </p:pic>
    </p:spTree>
    <p:extLst>
      <p:ext uri="{BB962C8B-B14F-4D97-AF65-F5344CB8AC3E}">
        <p14:creationId xmlns:p14="http://schemas.microsoft.com/office/powerpoint/2010/main" val="28247316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4EA9A238-A4EB-7845-A530-6D55FE9182D2}"/>
              </a:ext>
            </a:extLst>
          </p:cNvPr>
          <p:cNvSpPr>
            <a:spLocks noGrp="1"/>
          </p:cNvSpPr>
          <p:nvPr>
            <p:ph type="title"/>
          </p:nvPr>
        </p:nvSpPr>
        <p:spPr/>
        <p:txBody>
          <a:bodyPr/>
          <a:lstStyle/>
          <a:p>
            <a:endParaRPr lang="tr-TR"/>
          </a:p>
        </p:txBody>
      </p:sp>
      <p:pic>
        <p:nvPicPr>
          <p:cNvPr id="5" name="İçerik Yer Tutucusu 4">
            <a:extLst>
              <a:ext uri="{FF2B5EF4-FFF2-40B4-BE49-F238E27FC236}">
                <a16:creationId xmlns:a16="http://schemas.microsoft.com/office/drawing/2014/main" id="{8C1191EA-5700-DA76-AE51-A3DEE738B9BA}"/>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0" y="0"/>
            <a:ext cx="12192000" cy="6858000"/>
          </a:xfrm>
        </p:spPr>
      </p:pic>
      <p:sp>
        <p:nvSpPr>
          <p:cNvPr id="6" name="Dikdörtgen 5">
            <a:extLst>
              <a:ext uri="{FF2B5EF4-FFF2-40B4-BE49-F238E27FC236}">
                <a16:creationId xmlns:a16="http://schemas.microsoft.com/office/drawing/2014/main" id="{EAAE2BB8-6102-1FCF-6941-A94622F871FD}"/>
              </a:ext>
            </a:extLst>
          </p:cNvPr>
          <p:cNvSpPr/>
          <p:nvPr/>
        </p:nvSpPr>
        <p:spPr>
          <a:xfrm>
            <a:off x="0" y="0"/>
            <a:ext cx="12192000" cy="6858000"/>
          </a:xfrm>
          <a:prstGeom prst="rect">
            <a:avLst/>
          </a:prstGeom>
          <a:solidFill>
            <a:schemeClr val="tx1">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7" name="Metin kutusu 6">
            <a:extLst>
              <a:ext uri="{FF2B5EF4-FFF2-40B4-BE49-F238E27FC236}">
                <a16:creationId xmlns:a16="http://schemas.microsoft.com/office/drawing/2014/main" id="{D121DE4E-0874-9DCA-89EF-8AF6E62EFA31}"/>
              </a:ext>
            </a:extLst>
          </p:cNvPr>
          <p:cNvSpPr txBox="1"/>
          <p:nvPr/>
        </p:nvSpPr>
        <p:spPr>
          <a:xfrm>
            <a:off x="2527117" y="504686"/>
            <a:ext cx="6776720" cy="523220"/>
          </a:xfrm>
          <a:prstGeom prst="rect">
            <a:avLst/>
          </a:prstGeom>
          <a:noFill/>
        </p:spPr>
        <p:txBody>
          <a:bodyPr wrap="square" rtlCol="0">
            <a:spAutoFit/>
          </a:bodyPr>
          <a:lstStyle/>
          <a:p>
            <a:pPr algn="ctr"/>
            <a:r>
              <a:rPr lang="tr-TR" sz="2800" dirty="0">
                <a:solidFill>
                  <a:schemeClr val="bg1"/>
                </a:solidFill>
                <a:latin typeface="Times New Roman" panose="02020603050405020304" pitchFamily="18" charset="0"/>
                <a:cs typeface="Times New Roman" panose="02020603050405020304" pitchFamily="18" charset="0"/>
              </a:rPr>
              <a:t>SONUÇ VE DEĞERLENDİRME</a:t>
            </a:r>
          </a:p>
        </p:txBody>
      </p:sp>
      <p:sp>
        <p:nvSpPr>
          <p:cNvPr id="3" name="Metin kutusu 2">
            <a:extLst>
              <a:ext uri="{FF2B5EF4-FFF2-40B4-BE49-F238E27FC236}">
                <a16:creationId xmlns:a16="http://schemas.microsoft.com/office/drawing/2014/main" id="{556BCA2A-FC90-7861-90DD-596C390EEFC0}"/>
              </a:ext>
            </a:extLst>
          </p:cNvPr>
          <p:cNvSpPr txBox="1"/>
          <p:nvPr/>
        </p:nvSpPr>
        <p:spPr>
          <a:xfrm>
            <a:off x="1100186" y="1461035"/>
            <a:ext cx="10114961" cy="4154984"/>
          </a:xfrm>
          <a:prstGeom prst="rect">
            <a:avLst/>
          </a:prstGeom>
          <a:noFill/>
        </p:spPr>
        <p:txBody>
          <a:bodyPr wrap="square" rtlCol="0">
            <a:spAutoFit/>
          </a:bodyPr>
          <a:lstStyle/>
          <a:p>
            <a:r>
              <a:rPr lang="tr-TR" sz="2400" dirty="0">
                <a:solidFill>
                  <a:schemeClr val="bg1"/>
                </a:solidFill>
                <a:latin typeface="Times New Roman" panose="02020603050405020304" pitchFamily="18" charset="0"/>
                <a:cs typeface="Times New Roman" panose="02020603050405020304" pitchFamily="18" charset="0"/>
              </a:rPr>
              <a:t>Proje çalışmaları sonucunda, </a:t>
            </a:r>
            <a:r>
              <a:rPr lang="en-US" sz="2400" dirty="0">
                <a:solidFill>
                  <a:schemeClr val="bg1"/>
                </a:solidFill>
                <a:latin typeface="Times New Roman" panose="02020603050405020304" pitchFamily="18" charset="0"/>
                <a:cs typeface="Times New Roman" panose="02020603050405020304" pitchFamily="18" charset="0"/>
              </a:rPr>
              <a:t>Diabetes 130-US hospitals for years 1999-2008 Data Set Raw</a:t>
            </a:r>
            <a:r>
              <a:rPr lang="tr-TR" sz="2400" dirty="0"/>
              <a:t> </a:t>
            </a:r>
            <a:r>
              <a:rPr lang="tr-TR" sz="2400" dirty="0">
                <a:solidFill>
                  <a:schemeClr val="bg1"/>
                </a:solidFill>
                <a:latin typeface="Times New Roman" panose="02020603050405020304" pitchFamily="18" charset="0"/>
                <a:cs typeface="Times New Roman" panose="02020603050405020304" pitchFamily="18" charset="0"/>
              </a:rPr>
              <a:t>veri seti üzerinde yapılan denemeler arasında </a:t>
            </a:r>
            <a:r>
              <a:rPr lang="tr-TR" sz="2400" dirty="0" err="1">
                <a:solidFill>
                  <a:schemeClr val="bg1"/>
                </a:solidFill>
                <a:latin typeface="Times New Roman" panose="02020603050405020304" pitchFamily="18" charset="0"/>
                <a:cs typeface="Times New Roman" panose="02020603050405020304" pitchFamily="18" charset="0"/>
              </a:rPr>
              <a:t>Gaussian</a:t>
            </a:r>
            <a:r>
              <a:rPr lang="tr-TR" sz="2400" dirty="0">
                <a:solidFill>
                  <a:schemeClr val="bg1"/>
                </a:solidFill>
                <a:latin typeface="Times New Roman" panose="02020603050405020304" pitchFamily="18" charset="0"/>
                <a:cs typeface="Times New Roman" panose="02020603050405020304" pitchFamily="18" charset="0"/>
              </a:rPr>
              <a:t> </a:t>
            </a:r>
            <a:r>
              <a:rPr lang="tr-TR" sz="2400" dirty="0" err="1">
                <a:solidFill>
                  <a:schemeClr val="bg1"/>
                </a:solidFill>
                <a:latin typeface="Times New Roman" panose="02020603050405020304" pitchFamily="18" charset="0"/>
                <a:cs typeface="Times New Roman" panose="02020603050405020304" pitchFamily="18" charset="0"/>
              </a:rPr>
              <a:t>Naive</a:t>
            </a:r>
            <a:r>
              <a:rPr lang="tr-TR" sz="2400" dirty="0">
                <a:solidFill>
                  <a:schemeClr val="bg1"/>
                </a:solidFill>
                <a:latin typeface="Times New Roman" panose="02020603050405020304" pitchFamily="18" charset="0"/>
                <a:cs typeface="Times New Roman" panose="02020603050405020304" pitchFamily="18" charset="0"/>
              </a:rPr>
              <a:t> </a:t>
            </a:r>
            <a:r>
              <a:rPr lang="tr-TR" sz="2400" dirty="0" err="1">
                <a:solidFill>
                  <a:schemeClr val="bg1"/>
                </a:solidFill>
                <a:latin typeface="Times New Roman" panose="02020603050405020304" pitchFamily="18" charset="0"/>
                <a:cs typeface="Times New Roman" panose="02020603050405020304" pitchFamily="18" charset="0"/>
              </a:rPr>
              <a:t>Bayes</a:t>
            </a:r>
            <a:r>
              <a:rPr lang="tr-TR" sz="2400" dirty="0">
                <a:solidFill>
                  <a:schemeClr val="bg1"/>
                </a:solidFill>
                <a:latin typeface="Times New Roman" panose="02020603050405020304" pitchFamily="18" charset="0"/>
                <a:cs typeface="Times New Roman" panose="02020603050405020304" pitchFamily="18" charset="0"/>
              </a:rPr>
              <a:t> modeli en yüksek performansı sergileyerek diyabet riskini tahmin etmede en başarılı algoritma olarak kaydedilmiştir. Süreç boyunca edinilen en önemli teknik tecrübe; hatalı girilen "0" değerlerinin medyan ile doldurulması ve aykırı değerlerin temizlenmesi gibi veri ön işleme adımlarının, modelin tahmin gücünü doğrudan artırdığıdır. Ayrıca, 10-Katlı Çapraz Doğrulama (Cross-</a:t>
            </a:r>
            <a:r>
              <a:rPr lang="tr-TR" sz="2400" dirty="0" err="1">
                <a:solidFill>
                  <a:schemeClr val="bg1"/>
                </a:solidFill>
                <a:latin typeface="Times New Roman" panose="02020603050405020304" pitchFamily="18" charset="0"/>
                <a:cs typeface="Times New Roman" panose="02020603050405020304" pitchFamily="18" charset="0"/>
              </a:rPr>
              <a:t>Validation</a:t>
            </a:r>
            <a:r>
              <a:rPr lang="tr-TR" sz="2400" dirty="0">
                <a:solidFill>
                  <a:schemeClr val="bg1"/>
                </a:solidFill>
                <a:latin typeface="Times New Roman" panose="02020603050405020304" pitchFamily="18" charset="0"/>
                <a:cs typeface="Times New Roman" panose="02020603050405020304" pitchFamily="18" charset="0"/>
              </a:rPr>
              <a:t>) kullanımı sayesinde modelin başarısının tesadüfi olmadığı ve farklı veri örneklemlerinde de tutarlı sonuçlar ürettiği kanıtlanmıştır. Bu çalışma, tıbbi teşhis süreçlerinde veri kalitesinin ve verinin istatistiksel dağılımına uygun model seçiminin ne denli kritik olduğunu açıkça ortaya koymuştur.</a:t>
            </a:r>
          </a:p>
        </p:txBody>
      </p:sp>
    </p:spTree>
    <p:extLst>
      <p:ext uri="{BB962C8B-B14F-4D97-AF65-F5344CB8AC3E}">
        <p14:creationId xmlns:p14="http://schemas.microsoft.com/office/powerpoint/2010/main" val="902135309"/>
      </p:ext>
    </p:extLst>
  </p:cSld>
  <p:clrMapOvr>
    <a:masterClrMapping/>
  </p:clrMapOvr>
</p:sld>
</file>

<file path=ppt/theme/theme1.xml><?xml version="1.0" encoding="utf-8"?>
<a:theme xmlns:a="http://schemas.openxmlformats.org/drawingml/2006/main" name="Office Teması">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eması">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267</TotalTime>
  <Words>990</Words>
  <Application>Microsoft Office PowerPoint</Application>
  <PresentationFormat>Geniş ekran</PresentationFormat>
  <Paragraphs>28</Paragraphs>
  <Slides>8</Slides>
  <Notes>4</Notes>
  <HiddenSlides>0</HiddenSlides>
  <MMClips>0</MMClips>
  <ScaleCrop>false</ScaleCrop>
  <HeadingPairs>
    <vt:vector size="6" baseType="variant">
      <vt:variant>
        <vt:lpstr>Kullanılan Yazı Tipleri</vt:lpstr>
      </vt:variant>
      <vt:variant>
        <vt:i4>4</vt:i4>
      </vt:variant>
      <vt:variant>
        <vt:lpstr>Tema</vt:lpstr>
      </vt:variant>
      <vt:variant>
        <vt:i4>1</vt:i4>
      </vt:variant>
      <vt:variant>
        <vt:lpstr>Slayt Başlıkları</vt:lpstr>
      </vt:variant>
      <vt:variant>
        <vt:i4>8</vt:i4>
      </vt:variant>
    </vt:vector>
  </HeadingPairs>
  <TitlesOfParts>
    <vt:vector size="13" baseType="lpstr">
      <vt:lpstr>Arial</vt:lpstr>
      <vt:lpstr>Calibri</vt:lpstr>
      <vt:lpstr>Calibri Light</vt:lpstr>
      <vt:lpstr>Times New Roman</vt:lpstr>
      <vt:lpstr>Office Teması</vt:lpstr>
      <vt:lpstr>PowerPoint Sunusu</vt:lpstr>
      <vt:lpstr>PowerPoint Sunusu</vt:lpstr>
      <vt:lpstr>PowerPoint Sunusu</vt:lpstr>
      <vt:lpstr>PowerPoint Sunusu</vt:lpstr>
      <vt:lpstr>PowerPoint Sunusu</vt:lpstr>
      <vt:lpstr>PowerPoint Sunusu</vt:lpstr>
      <vt:lpstr>PowerPoint Sunusu</vt:lpstr>
      <vt:lpstr>PowerPoint Sunusu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Sunusu</dc:title>
  <dc:creator>Eslem Berra ÖZEL</dc:creator>
  <cp:lastModifiedBy>Eslem Berra ÖZEL</cp:lastModifiedBy>
  <cp:revision>5</cp:revision>
  <dcterms:created xsi:type="dcterms:W3CDTF">2025-12-20T09:01:26Z</dcterms:created>
  <dcterms:modified xsi:type="dcterms:W3CDTF">2025-12-22T16:52:42Z</dcterms:modified>
</cp:coreProperties>
</file>